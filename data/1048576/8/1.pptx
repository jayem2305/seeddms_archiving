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59" r:id="rId4"/>
    <p:sldId id="261" r:id="rId5"/>
    <p:sldId id="274" r:id="rId6"/>
    <p:sldId id="262" r:id="rId7"/>
    <p:sldId id="273" r:id="rId8"/>
    <p:sldId id="263" r:id="rId9"/>
    <p:sldId id="264" r:id="rId10"/>
    <p:sldId id="271" r:id="rId11"/>
    <p:sldId id="270" r:id="rId12"/>
    <p:sldId id="272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41" d="100"/>
          <a:sy n="41" d="100"/>
        </p:scale>
        <p:origin x="69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7" name="Shape 19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9319862"/>
            <a:ext cx="21971003" cy="636979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CCB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owerPoint Templates 2025_2.png"/>
          <p:cNvSpPr>
            <a:spLocks noGrp="1"/>
          </p:cNvSpPr>
          <p:nvPr>
            <p:ph type="pic" idx="21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4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663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CCB26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5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6567137"/>
            <a:ext cx="21968621" cy="636979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9450910"/>
            <a:ext cx="21971000" cy="111695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7" name="Office Name / Header"/>
          <p:cNvSpPr txBox="1"/>
          <p:nvPr/>
        </p:nvSpPr>
        <p:spPr>
          <a:xfrm>
            <a:off x="1207689" y="3511932"/>
            <a:ext cx="2196862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3600" b="1">
                <a:solidFill>
                  <a:srgbClr val="FFFFFF"/>
                </a:solidFill>
              </a:defRPr>
            </a:lvl1pPr>
          </a:lstStyle>
          <a:p>
            <a:r>
              <a:t>Office Name / Header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1503596" y="-86143"/>
            <a:ext cx="11179832" cy="1301195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270000"/>
            <a:ext cx="9779000" cy="588227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CCB26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3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9" name="#098142"/>
          <p:cNvSpPr txBox="1"/>
          <p:nvPr/>
        </p:nvSpPr>
        <p:spPr>
          <a:xfrm>
            <a:off x="11995150" y="6845300"/>
            <a:ext cx="6477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098142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#098142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9374030" cy="14331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CCB26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4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1937403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9374030" cy="8256012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9374030" cy="14331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CCB26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1937403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9374030" cy="8256012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0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545779" y="-298955"/>
            <a:ext cx="10209314" cy="1361241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CCB26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9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 numCol="1" spcCol="3810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CCB26"/>
                </a:solidFill>
              </a:defRPr>
            </a:lvl1pPr>
          </a:lstStyle>
          <a:p>
            <a:r>
              <a:t>Slide Title</a:t>
            </a:r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000000"/>
                </a:solidFill>
              </a:defRPr>
            </a:lvl1pPr>
          </a:lstStyle>
          <a:p>
            <a:r>
              <a:t>Slide Subtitle</a:t>
            </a:r>
          </a:p>
        </p:txBody>
      </p:sp>
      <p:sp>
        <p:nvSpPr>
          <p:cNvPr id="10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 numCol="1" spcCol="38100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pic>
        <p:nvPicPr>
          <p:cNvPr id="103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19318566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CCB26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Bowl of salad with fried rice, boiled eggs,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72" name="Bowl with salmon cakes, salad, and hummus "/>
          <p:cNvSpPr>
            <a:spLocks noGrp="1"/>
          </p:cNvSpPr>
          <p:nvPr>
            <p:ph type="pic" sz="half" idx="22"/>
          </p:nvPr>
        </p:nvSpPr>
        <p:spPr>
          <a:xfrm>
            <a:off x="13500100" y="2962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73" name="Bowl of pappardelle pasta with parsley butter, roasted hazelnuts,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-5207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bowl of salad with fried rice, boiled eggs,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owerPoint Templates 2025_2.png" descr="PowerPoint Templates 202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werPoint Templates 2025_2.png" descr="PowerPoint Templates 2025_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4" r:id="rId11"/>
    <p:sldLayoutId id="2147483665" r:id="rId12"/>
    <p:sldLayoutId id="2147483666" r:id="rId13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Exclusive Use for College of Computing and Information Sciences…"/>
          <p:cNvSpPr txBox="1">
            <a:spLocks noGrp="1"/>
          </p:cNvSpPr>
          <p:nvPr>
            <p:ph type="body" idx="21"/>
          </p:nvPr>
        </p:nvSpPr>
        <p:spPr>
          <a:xfrm>
            <a:off x="1206496" y="10133602"/>
            <a:ext cx="14604717" cy="201481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lang="en-PH" b="0" dirty="0"/>
              <a:t>Canlas Clyde, Enrique Jhon Mark, </a:t>
            </a:r>
            <a:r>
              <a:rPr lang="en-PH" b="0" dirty="0" err="1"/>
              <a:t>Formanes</a:t>
            </a:r>
            <a:r>
              <a:rPr lang="en-PH" b="0" dirty="0"/>
              <a:t> Patrick, Elvin John Recto</a:t>
            </a:r>
          </a:p>
          <a:p>
            <a:r>
              <a:rPr lang="en-US" sz="3600" b="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IV - BCSAD, College of Computing and Information Sciences (CCIS)</a:t>
            </a:r>
          </a:p>
          <a:p>
            <a:endParaRPr lang="en-PH" b="0" dirty="0"/>
          </a:p>
        </p:txBody>
      </p:sp>
      <p:sp>
        <p:nvSpPr>
          <p:cNvPr id="200" name="UMak Deck Template…"/>
          <p:cNvSpPr txBox="1">
            <a:spLocks noGrp="1"/>
          </p:cNvSpPr>
          <p:nvPr>
            <p:ph type="ctrTitle"/>
          </p:nvPr>
        </p:nvSpPr>
        <p:spPr>
          <a:xfrm>
            <a:off x="1206496" y="2574991"/>
            <a:ext cx="17865275" cy="4648201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2540" algn="just" rtl="0">
              <a:spcAft>
                <a:spcPts val="2400"/>
              </a:spcAft>
              <a:buNone/>
            </a:pPr>
            <a:r>
              <a:rPr lang="en-US" sz="7200" cap="small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Verifyid</a:t>
            </a:r>
            <a:r>
              <a:rPr lang="en-PH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7200" cap="sm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  <a:r>
              <a:rPr lang="en-US" sz="7200" b="1" i="0" u="none" strike="noStrike" cap="small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Barangay System with Identity Authentication through Integration of Image Recognition</a:t>
            </a:r>
            <a:endParaRPr lang="en-PH" sz="54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6B41B44-5175-6BF6-573D-ADA9B43253A2}"/>
              </a:ext>
            </a:extLst>
          </p:cNvPr>
          <p:cNvGrpSpPr/>
          <p:nvPr/>
        </p:nvGrpSpPr>
        <p:grpSpPr>
          <a:xfrm>
            <a:off x="1054520" y="1567584"/>
            <a:ext cx="5271957" cy="2277186"/>
            <a:chOff x="0" y="0"/>
            <a:chExt cx="4184852" cy="1898782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EC9EB981-D5A5-AF66-A250-3EA88B83B58D}"/>
                </a:ext>
              </a:extLst>
            </p:cNvPr>
            <p:cNvSpPr/>
            <p:nvPr/>
          </p:nvSpPr>
          <p:spPr>
            <a:xfrm>
              <a:off x="0" y="0"/>
              <a:ext cx="1908786" cy="1890721"/>
            </a:xfrm>
            <a:custGeom>
              <a:avLst/>
              <a:gdLst/>
              <a:ahLst/>
              <a:cxnLst/>
              <a:rect l="l" t="t" r="r" b="b"/>
              <a:pathLst>
                <a:path w="1908786" h="1890721">
                  <a:moveTo>
                    <a:pt x="0" y="0"/>
                  </a:moveTo>
                  <a:lnTo>
                    <a:pt x="1908786" y="0"/>
                  </a:lnTo>
                  <a:lnTo>
                    <a:pt x="1908786" y="1890721"/>
                  </a:lnTo>
                  <a:lnTo>
                    <a:pt x="0" y="1890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PH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32DBE163-E336-07A6-9A2E-EE1981024FF1}"/>
                </a:ext>
              </a:extLst>
            </p:cNvPr>
            <p:cNvSpPr/>
            <p:nvPr/>
          </p:nvSpPr>
          <p:spPr>
            <a:xfrm>
              <a:off x="2265697" y="0"/>
              <a:ext cx="1919155" cy="1898782"/>
            </a:xfrm>
            <a:custGeom>
              <a:avLst/>
              <a:gdLst/>
              <a:ahLst/>
              <a:cxnLst/>
              <a:rect l="l" t="t" r="r" b="b"/>
              <a:pathLst>
                <a:path w="1919155" h="1898782">
                  <a:moveTo>
                    <a:pt x="0" y="0"/>
                  </a:moveTo>
                  <a:lnTo>
                    <a:pt x="1919155" y="0"/>
                  </a:lnTo>
                  <a:lnTo>
                    <a:pt x="1919155" y="1898782"/>
                  </a:lnTo>
                  <a:lnTo>
                    <a:pt x="0" y="1898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PH"/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Bowl with salmon cakes, salad, and hummus" descr="Bowl with salmon cakes, salad, and hummus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36" name="Presentation Title"/>
          <p:cNvSpPr txBox="1">
            <a:spLocks noGrp="1"/>
          </p:cNvSpPr>
          <p:nvPr>
            <p:ph type="title"/>
          </p:nvPr>
        </p:nvSpPr>
        <p:spPr>
          <a:xfrm>
            <a:off x="1047473" y="830539"/>
            <a:ext cx="21971000" cy="1484438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9FF043-E697-E5D2-EEDC-23473196CD66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1047473" y="2834187"/>
            <a:ext cx="22746804" cy="10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85800" marR="0" lvl="0" indent="-6858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Traditional barangay services are 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manual, slow, and error-prone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84D0E2D-255B-A85D-DEA1-340C84C02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4050020"/>
            <a:ext cx="22746804" cy="1063433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Residents face long queues and multiple visits for documents.</a:t>
            </a:r>
            <a:endParaRPr lang="en-US" altLang="en-US" sz="4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B524A65-479D-5764-163A-3C5873A1A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5157271"/>
            <a:ext cx="22746804" cy="1063433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0D0CA09-B56B-8D36-D1E6-242AB7BA2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5299325"/>
            <a:ext cx="22746804" cy="1063433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The study proposes a web-based system for Barangay 781 Zone 85.</a:t>
            </a:r>
            <a:endParaRPr lang="en-US" altLang="en-US" sz="4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C90AFC01-8DE6-8F87-B6F8-B90CE9B60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6661489"/>
            <a:ext cx="22746804" cy="2171428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Uses facial recognition with YOLOv8 and CNN for secure identity verification.</a:t>
            </a:r>
            <a:endParaRPr lang="en-US" altLang="en-US" sz="4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9D2EDCF-0653-D607-5034-AB2A2BD90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763" y="8974971"/>
            <a:ext cx="21206514" cy="2171428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4800" dirty="0"/>
              <a:t>Aims for  Faster service, less manual work, better transparency, and reduce errors.</a:t>
            </a:r>
            <a:endParaRPr lang="en-US" altLang="en-US" sz="4800" b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en-US" sz="11500" dirty="0"/>
              <a:t>Methodology</a:t>
            </a:r>
            <a:endParaRPr dirty="0"/>
          </a:p>
        </p:txBody>
      </p:sp>
      <p:pic>
        <p:nvPicPr>
          <p:cNvPr id="3074" name="Picture 2" descr="The Agile Development Process for Mobile Apps | Krasamo">
            <a:extLst>
              <a:ext uri="{FF2B5EF4-FFF2-40B4-BE49-F238E27FC236}">
                <a16:creationId xmlns:a16="http://schemas.microsoft.com/office/drawing/2014/main" id="{9CFCAEBD-341C-3253-C053-97B9ACBA1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34" y="2782957"/>
            <a:ext cx="16754731" cy="929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lide Title"/>
          <p:cNvSpPr txBox="1">
            <a:spLocks noGrp="1"/>
          </p:cNvSpPr>
          <p:nvPr>
            <p:ph type="title"/>
          </p:nvPr>
        </p:nvSpPr>
        <p:spPr>
          <a:xfrm>
            <a:off x="1206500" y="1079500"/>
            <a:ext cx="19420117" cy="143316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Research Design</a:t>
            </a:r>
            <a:endParaRPr dirty="0"/>
          </a:p>
        </p:txBody>
      </p:sp>
      <p:pic>
        <p:nvPicPr>
          <p:cNvPr id="4098" name="Picture 2" descr="40,900+ Research Paper Icon Stock Illustrations, Royalty-Free Vector  Graphics &amp; Clip Art - iStock">
            <a:extLst>
              <a:ext uri="{FF2B5EF4-FFF2-40B4-BE49-F238E27FC236}">
                <a16:creationId xmlns:a16="http://schemas.microsoft.com/office/drawing/2014/main" id="{1498BEAE-E336-4A0C-F86F-84EA0E079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943" y="2904341"/>
            <a:ext cx="4118299" cy="411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6FA058-B25C-A1C7-1F4A-CC35DF86C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6500" y="7022640"/>
            <a:ext cx="7526953" cy="2171428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 b="0" dirty="0">
                <a:solidFill>
                  <a:schemeClr val="bg1"/>
                </a:solidFill>
                <a:latin typeface="Arial" panose="020B0604020202020204" pitchFamily="34" charset="0"/>
              </a:rPr>
              <a:t>DESCRIPTIVE RESEARCH</a:t>
            </a:r>
          </a:p>
        </p:txBody>
      </p:sp>
      <p:pic>
        <p:nvPicPr>
          <p:cNvPr id="4100" name="Picture 4" descr="Computer Vector Art PNG Images | Free Download On Pngtree">
            <a:extLst>
              <a:ext uri="{FF2B5EF4-FFF2-40B4-BE49-F238E27FC236}">
                <a16:creationId xmlns:a16="http://schemas.microsoft.com/office/drawing/2014/main" id="{51336666-0C0E-8918-831F-E6B0227F1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2850" y="5374038"/>
            <a:ext cx="4118299" cy="411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E7D7CDA-AB3D-D861-50C3-0CAD0251F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182" y="9492337"/>
            <a:ext cx="7881184" cy="2171428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 b="0" dirty="0">
                <a:solidFill>
                  <a:schemeClr val="bg1"/>
                </a:solidFill>
                <a:latin typeface="Arial" panose="020B0604020202020204" pitchFamily="34" charset="0"/>
              </a:rPr>
              <a:t>DEVELOPMENTAL RESEARCH</a:t>
            </a:r>
          </a:p>
        </p:txBody>
      </p:sp>
      <p:pic>
        <p:nvPicPr>
          <p:cNvPr id="4104" name="Picture 8" descr="Icono de investigación experimental: vector de stock (libre de regalías)  664273465 | Shutterstock">
            <a:extLst>
              <a:ext uri="{FF2B5EF4-FFF2-40B4-BE49-F238E27FC236}">
                <a16:creationId xmlns:a16="http://schemas.microsoft.com/office/drawing/2014/main" id="{4A5B1883-00B0-C988-8EDB-447707C08A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5"/>
          <a:stretch/>
        </p:blipFill>
        <p:spPr bwMode="auto">
          <a:xfrm>
            <a:off x="17177758" y="2857661"/>
            <a:ext cx="4118299" cy="4118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86736E9-AC93-E450-866E-AE11F04C2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96316" y="6975910"/>
            <a:ext cx="7881184" cy="2171428"/>
          </a:xfrm>
          <a:prstGeom prst="rect">
            <a:avLst/>
          </a:prstGeom>
          <a:noFill/>
          <a:ln w="12700">
            <a:noFill/>
            <a:miter lim="4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wrap="square" lIns="91440" tIns="45720" rIns="91440" bIns="45720" numCol="1" spcCol="38100" anchor="ctr" anchorCtr="0" compatLnSpc="1">
            <a:prstTxWarp prst="textNoShape">
              <a:avLst/>
            </a:prstTxWarp>
            <a:spAutoFit/>
          </a:bodyPr>
          <a:lstStyle>
            <a:lvl1pPr marL="0" marR="0" indent="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ctr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800" b="0" dirty="0">
                <a:solidFill>
                  <a:schemeClr val="bg1"/>
                </a:solidFill>
                <a:latin typeface="Arial" panose="020B0604020202020204" pitchFamily="34" charset="0"/>
              </a:rPr>
              <a:t>EXPERIMENTAL RESEARCH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8AD5-543F-A7AA-EC95-35CC62B7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Collection and Analytical Technique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638BE-F540-E47C-09DE-F6C21B955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29994"/>
            <a:ext cx="19374030" cy="825601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Survey via Google Forms</a:t>
            </a:r>
          </a:p>
          <a:p>
            <a:pPr>
              <a:lnSpc>
                <a:spcPct val="200000"/>
              </a:lnSpc>
            </a:pPr>
            <a:r>
              <a:rPr lang="en-US" dirty="0"/>
              <a:t>351 Respondents including 10 IT Experts</a:t>
            </a:r>
          </a:p>
          <a:p>
            <a:pPr>
              <a:lnSpc>
                <a:spcPct val="200000"/>
              </a:lnSpc>
            </a:pPr>
            <a:r>
              <a:rPr lang="en-US" dirty="0"/>
              <a:t>Convenience Sampling</a:t>
            </a:r>
          </a:p>
          <a:p>
            <a:pPr>
              <a:lnSpc>
                <a:spcPct val="200000"/>
              </a:lnSpc>
            </a:pPr>
            <a:r>
              <a:rPr lang="en-US" dirty="0"/>
              <a:t>Descriptive Statistics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42551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FA78B1-0DEC-286F-FA37-67E14AE4E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8" y="4057350"/>
            <a:ext cx="23008717" cy="5228075"/>
          </a:xfrm>
          <a:prstGeom prst="rect">
            <a:avLst/>
          </a:prstGeom>
        </p:spPr>
      </p:pic>
      <p:sp>
        <p:nvSpPr>
          <p:cNvPr id="4" name="Slide Title">
            <a:extLst>
              <a:ext uri="{FF2B5EF4-FFF2-40B4-BE49-F238E27FC236}">
                <a16:creationId xmlns:a16="http://schemas.microsoft.com/office/drawing/2014/main" id="{ED460196-9700-5914-45F4-4E096158A15B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Face Recognition and Comparison Process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Title">
            <a:extLst>
              <a:ext uri="{FF2B5EF4-FFF2-40B4-BE49-F238E27FC236}">
                <a16:creationId xmlns:a16="http://schemas.microsoft.com/office/drawing/2014/main" id="{ED460196-9700-5914-45F4-4E096158A15B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Prototype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084CE-DEFD-81C7-167B-2FC57BB26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883" y="3251593"/>
            <a:ext cx="9649044" cy="84321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FDBB9A-0068-D07C-1308-F8CF5C600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074" y="3251593"/>
            <a:ext cx="9446637" cy="843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1773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id="{A52FB0EC-5FB1-C4B5-EC94-4E83E6FEAFC4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Metrics in Different variables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349FC92-A49C-D651-D257-063E30FA4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89350"/>
              </p:ext>
            </p:extLst>
          </p:nvPr>
        </p:nvGraphicFramePr>
        <p:xfrm>
          <a:off x="3000309" y="3321351"/>
          <a:ext cx="18872976" cy="8223036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290992">
                  <a:extLst>
                    <a:ext uri="{9D8B030D-6E8A-4147-A177-3AD203B41FA5}">
                      <a16:colId xmlns:a16="http://schemas.microsoft.com/office/drawing/2014/main" val="2477300265"/>
                    </a:ext>
                  </a:extLst>
                </a:gridCol>
                <a:gridCol w="6290992">
                  <a:extLst>
                    <a:ext uri="{9D8B030D-6E8A-4147-A177-3AD203B41FA5}">
                      <a16:colId xmlns:a16="http://schemas.microsoft.com/office/drawing/2014/main" val="2308204811"/>
                    </a:ext>
                  </a:extLst>
                </a:gridCol>
                <a:gridCol w="6290992">
                  <a:extLst>
                    <a:ext uri="{9D8B030D-6E8A-4147-A177-3AD203B41FA5}">
                      <a16:colId xmlns:a16="http://schemas.microsoft.com/office/drawing/2014/main" val="4084189716"/>
                    </a:ext>
                  </a:extLst>
                </a:gridCol>
              </a:tblGrid>
              <a:tr h="1362339">
                <a:tc>
                  <a:txBody>
                    <a:bodyPr/>
                    <a:lstStyle/>
                    <a:p>
                      <a:pPr algn="ctr"/>
                      <a:r>
                        <a:rPr lang="en-US" sz="4400" b="1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sym typeface="Helvetica Neue"/>
                        </a:rPr>
                        <a:t>Metrics</a:t>
                      </a:r>
                      <a:endParaRPr lang="en-US" sz="4400" dirty="0"/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4400" b="1" u="none" strike="noStrike" cap="none" spc="0" baseline="0" dirty="0">
                        <a:solidFill>
                          <a:schemeClr val="lt1"/>
                        </a:solidFill>
                        <a:effectLst/>
                        <a:uFillTx/>
                        <a:sym typeface="Helvetica Neue"/>
                      </a:endParaRPr>
                    </a:p>
                    <a:p>
                      <a:pPr algn="ctr" rtl="0"/>
                      <a:r>
                        <a:rPr lang="en-US" sz="4400" b="1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sym typeface="Helvetica Neue"/>
                        </a:rPr>
                        <a:t>YOLOv8</a:t>
                      </a:r>
                      <a:endParaRPr lang="en-US" sz="4400" b="0" dirty="0">
                        <a:effectLst/>
                      </a:endParaRPr>
                    </a:p>
                    <a:p>
                      <a:pPr algn="ctr" rtl="0"/>
                      <a:r>
                        <a:rPr lang="en-US" sz="4400" b="1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sym typeface="Helvetica Neue"/>
                        </a:rPr>
                        <a:t>(Controlled Variable)</a:t>
                      </a:r>
                      <a:endParaRPr lang="en-US" sz="4400" b="0" dirty="0">
                        <a:effectLst/>
                      </a:endParaRPr>
                    </a:p>
                    <a:p>
                      <a:pPr algn="ctr"/>
                      <a:endParaRPr lang="en-US" sz="4400" dirty="0"/>
                    </a:p>
                  </a:txBody>
                  <a:tcPr anchor="b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sym typeface="Helvetica Neue"/>
                        </a:rPr>
                        <a:t>YOLOv8 and CNN (Uncontrolled variables)</a:t>
                      </a:r>
                      <a:endParaRPr lang="en-US" sz="4400" dirty="0">
                        <a:effectLst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69330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Precision</a:t>
                      </a:r>
                      <a:endParaRPr lang="en-US" sz="9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0.883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0.950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80593873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Recall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0.933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0.932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80430878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F1 Score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0.908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0.962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42385721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Accuracy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>
                          <a:solidFill>
                            <a:schemeClr val="tx1"/>
                          </a:solidFill>
                          <a:effectLst/>
                        </a:rPr>
                        <a:t>0.903</a:t>
                      </a:r>
                      <a:endParaRPr lang="en-US" sz="96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5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0.936</a:t>
                      </a:r>
                      <a:endParaRPr lang="en-US" sz="96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47300682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01985ABF-0001-20AB-EF8B-029990140ED5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Performance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699442-D39A-E42E-9BB1-6B8C5EF0D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30264"/>
              </p:ext>
            </p:extLst>
          </p:nvPr>
        </p:nvGraphicFramePr>
        <p:xfrm>
          <a:off x="2183362" y="3321350"/>
          <a:ext cx="19948848" cy="8509867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4987212">
                  <a:extLst>
                    <a:ext uri="{9D8B030D-6E8A-4147-A177-3AD203B41FA5}">
                      <a16:colId xmlns:a16="http://schemas.microsoft.com/office/drawing/2014/main" val="2477300265"/>
                    </a:ext>
                  </a:extLst>
                </a:gridCol>
                <a:gridCol w="4987212">
                  <a:extLst>
                    <a:ext uri="{9D8B030D-6E8A-4147-A177-3AD203B41FA5}">
                      <a16:colId xmlns:a16="http://schemas.microsoft.com/office/drawing/2014/main" val="2308204811"/>
                    </a:ext>
                  </a:extLst>
                </a:gridCol>
                <a:gridCol w="4987212">
                  <a:extLst>
                    <a:ext uri="{9D8B030D-6E8A-4147-A177-3AD203B41FA5}">
                      <a16:colId xmlns:a16="http://schemas.microsoft.com/office/drawing/2014/main" val="4084189716"/>
                    </a:ext>
                  </a:extLst>
                </a:gridCol>
                <a:gridCol w="4987212">
                  <a:extLst>
                    <a:ext uri="{9D8B030D-6E8A-4147-A177-3AD203B41FA5}">
                      <a16:colId xmlns:a16="http://schemas.microsoft.com/office/drawing/2014/main" val="2040047963"/>
                    </a:ext>
                  </a:extLst>
                </a:gridCol>
              </a:tblGrid>
              <a:tr h="2698091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Metrics</a:t>
                      </a:r>
                      <a:endParaRPr lang="en-US" sz="7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Convolutional Neural Network (CNN)</a:t>
                      </a:r>
                      <a:endParaRPr lang="en-US" sz="7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You Only Look Once version 8 (YOLOv8)</a:t>
                      </a:r>
                      <a:endParaRPr lang="en-US" sz="7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Fast Region based Convolutional Neural Network (Fast R-CNN)</a:t>
                      </a:r>
                      <a:endParaRPr lang="en-US" sz="7200" b="1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69330"/>
                  </a:ext>
                </a:extLst>
              </a:tr>
              <a:tr h="14529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Precision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0.687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0.883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0.533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480593873"/>
                  </a:ext>
                </a:extLst>
              </a:tr>
              <a:tr h="14529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Recall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0.616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0.933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0.422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80430878"/>
                  </a:ext>
                </a:extLst>
              </a:tr>
              <a:tr h="14529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F1 Score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0.601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0.908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0.342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42385721"/>
                  </a:ext>
                </a:extLst>
              </a:tr>
              <a:tr h="145294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Accuracy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>
                          <a:solidFill>
                            <a:srgbClr val="000000"/>
                          </a:solidFill>
                          <a:effectLst/>
                        </a:rPr>
                        <a:t>0.627</a:t>
                      </a:r>
                      <a:endParaRPr lang="en-US" sz="72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0.903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0.439</a:t>
                      </a:r>
                      <a:endParaRPr lang="en-US" sz="72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47300682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1333-F01F-B081-2747-8A84F67CB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>
            <a:extLst>
              <a:ext uri="{FF2B5EF4-FFF2-40B4-BE49-F238E27FC236}">
                <a16:creationId xmlns:a16="http://schemas.microsoft.com/office/drawing/2014/main" id="{B6599B69-2E6A-7C52-9927-40CE0A383F4C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User Evaluation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E2BAC5-7001-9E27-CDAA-E7279A328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826213"/>
              </p:ext>
            </p:extLst>
          </p:nvPr>
        </p:nvGraphicFramePr>
        <p:xfrm>
          <a:off x="3000309" y="3321351"/>
          <a:ext cx="18872976" cy="817403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6290992">
                  <a:extLst>
                    <a:ext uri="{9D8B030D-6E8A-4147-A177-3AD203B41FA5}">
                      <a16:colId xmlns:a16="http://schemas.microsoft.com/office/drawing/2014/main" val="2477300265"/>
                    </a:ext>
                  </a:extLst>
                </a:gridCol>
                <a:gridCol w="6290992">
                  <a:extLst>
                    <a:ext uri="{9D8B030D-6E8A-4147-A177-3AD203B41FA5}">
                      <a16:colId xmlns:a16="http://schemas.microsoft.com/office/drawing/2014/main" val="2308204811"/>
                    </a:ext>
                  </a:extLst>
                </a:gridCol>
                <a:gridCol w="6290992">
                  <a:extLst>
                    <a:ext uri="{9D8B030D-6E8A-4147-A177-3AD203B41FA5}">
                      <a16:colId xmlns:a16="http://schemas.microsoft.com/office/drawing/2014/main" val="4084189716"/>
                    </a:ext>
                  </a:extLst>
                </a:gridCol>
              </a:tblGrid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Metrics</a:t>
                      </a:r>
                      <a:endParaRPr lang="en-US" sz="8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Mean Ratings</a:t>
                      </a:r>
                      <a:endParaRPr lang="en-US" sz="8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Verbal Interpretation</a:t>
                      </a:r>
                      <a:endParaRPr lang="en-US" sz="80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69330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Functional Suitability</a:t>
                      </a:r>
                      <a:endParaRPr lang="en-US" sz="8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4.70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Strongly Agree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480593873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Performance Efficiency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4.64</a:t>
                      </a:r>
                      <a:endParaRPr lang="en-US" sz="8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Strongly Agree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780430878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Compatibility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4.60</a:t>
                      </a:r>
                      <a:endParaRPr lang="en-US" sz="8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Strongly Agree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42385721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Security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>
                          <a:solidFill>
                            <a:srgbClr val="000000"/>
                          </a:solidFill>
                          <a:effectLst/>
                        </a:rPr>
                        <a:t>4.49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Strongly Agree</a:t>
                      </a:r>
                      <a:endParaRPr lang="en-US" sz="8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473006820"/>
                  </a:ext>
                </a:extLst>
              </a:tr>
              <a:tr h="136233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>
                          <a:solidFill>
                            <a:srgbClr val="000000"/>
                          </a:solidFill>
                          <a:effectLst/>
                        </a:rPr>
                        <a:t>Average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>
                          <a:solidFill>
                            <a:srgbClr val="000000"/>
                          </a:solidFill>
                          <a:effectLst/>
                        </a:rPr>
                        <a:t>4.61</a:t>
                      </a:r>
                      <a:endParaRPr lang="en-US" sz="80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4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Strongly Agree</a:t>
                      </a:r>
                      <a:endParaRPr lang="en-US" sz="8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40464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018905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39D7BA75-E0B9-A48B-55CC-BF8DCA79D710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Conclusion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882047F-BB4A-772E-767F-C555F3360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2983862"/>
            <a:ext cx="22746804" cy="217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b="1" dirty="0" err="1"/>
              <a:t>VerifyID</a:t>
            </a:r>
            <a:r>
              <a:rPr lang="en-US" dirty="0"/>
              <a:t> improved identity verification and streamlined barangay processes using facial recognition.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82FC7880-13CC-4F81-9188-19DD06F74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5298280"/>
            <a:ext cx="22746804" cy="217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b="1" dirty="0"/>
              <a:t>YOLOv8 and CNN</a:t>
            </a:r>
            <a:r>
              <a:rPr lang="en-US" dirty="0"/>
              <a:t> were integrated, with YOLOv8 showing the best performance in detection accuracy.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92FC872-0616-EFC4-7649-9E4C0B4C1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7656741"/>
            <a:ext cx="22746804" cy="217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dirty="0"/>
              <a:t>Users validated the system’s </a:t>
            </a:r>
            <a:r>
              <a:rPr lang="en-US" b="1" dirty="0"/>
              <a:t>effectiveness, reliability, and cross-platform compatibility</a:t>
            </a:r>
            <a:r>
              <a:rPr lang="en-US" dirty="0"/>
              <a:t>.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C8BBF70A-0AAB-3E54-14E2-708E6F58E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10539270"/>
            <a:ext cx="22746804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Future work will enhance </a:t>
            </a:r>
            <a:r>
              <a:rPr lang="en-US" b="1" dirty="0"/>
              <a:t>security, mobile support, and real-time feedback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8E1C-49F8-98B7-1E09-B9193868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2398F14B-8F13-1842-D944-6F8DECB626D0}"/>
              </a:ext>
            </a:extLst>
          </p:cNvPr>
          <p:cNvSpPr txBox="1">
            <a:spLocks/>
          </p:cNvSpPr>
          <p:nvPr/>
        </p:nvSpPr>
        <p:spPr>
          <a:xfrm>
            <a:off x="1206501" y="1079500"/>
            <a:ext cx="18872978" cy="1433163"/>
          </a:xfrm>
          <a:prstGeom prst="rect">
            <a:avLst/>
          </a:prstGeom>
        </p:spPr>
        <p:txBody>
          <a:bodyPr/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US" sz="9600" dirty="0">
                <a:solidFill>
                  <a:schemeClr val="accent4"/>
                </a:solidFill>
              </a:rPr>
              <a:t>RECOMMENDATION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A1485FD-83B8-E747-90A6-135F8CFBA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3537859"/>
            <a:ext cx="22746804" cy="10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b="1" dirty="0"/>
              <a:t>Live Scan Feedback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AFE6E32-8917-21D0-F2FC-E2E727403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5852277"/>
            <a:ext cx="22746804" cy="10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b="1" dirty="0"/>
              <a:t>Enhance Usability on Mobile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FE40CF9-23D2-0A69-0454-63FA45198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8210738"/>
            <a:ext cx="22746804" cy="106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85800" indent="-6858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b="1" dirty="0"/>
              <a:t>Alternative Authentication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64DF5F26-349E-8221-EB7F-677ABAB5B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7473" y="10539270"/>
            <a:ext cx="22746804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609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1219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1828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2438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30480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36576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dirty="0"/>
              <a:t>Enhance </a:t>
            </a:r>
            <a:r>
              <a:rPr lang="en-US" b="1" dirty="0"/>
              <a:t>Time-Limited Face Scan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586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307</Words>
  <Application>Microsoft Office PowerPoint</Application>
  <PresentationFormat>Custom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Canva Sans</vt:lpstr>
      <vt:lpstr>Helvetica Neue</vt:lpstr>
      <vt:lpstr>Helvetica Neue Medium</vt:lpstr>
      <vt:lpstr>21_BasicWhite</vt:lpstr>
      <vt:lpstr>Verifyid: Online Barangay System with Identity Authentication through Integration of Image Recognition</vt:lpstr>
      <vt:lpstr>Introduction</vt:lpstr>
      <vt:lpstr>Methodology</vt:lpstr>
      <vt:lpstr>Research Design</vt:lpstr>
      <vt:lpstr>Data Collection and Analytical Technique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CCIS Research Forum</dc:title>
  <dc:creator>jayen</dc:creator>
  <cp:lastModifiedBy>jayen</cp:lastModifiedBy>
  <cp:revision>3</cp:revision>
  <dcterms:modified xsi:type="dcterms:W3CDTF">2025-05-15T17:38:24Z</dcterms:modified>
</cp:coreProperties>
</file>