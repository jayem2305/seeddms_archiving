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Lst>
  <p:sldSz cy="11887200" cx="7772400"/>
  <p:notesSz cx="6858000" cy="9144000"/>
  <p:embeddedFontLst>
    <p:embeddedFont>
      <p:font typeface="Marcellus"/>
      <p:regular r:id="rId8"/>
    </p:embeddedFont>
    <p:embeddedFont>
      <p:font typeface="Marcellus SC"/>
      <p:regular r:id="rId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67">
          <p15:clr>
            <a:srgbClr val="A4A3A4"/>
          </p15:clr>
        </p15:guide>
        <p15:guide id="2" orient="horz" pos="267">
          <p15:clr>
            <a:srgbClr val="9AA0A6"/>
          </p15:clr>
        </p15:guide>
        <p15:guide id="3" pos="4606">
          <p15:clr>
            <a:srgbClr val="9AA0A6"/>
          </p15:clr>
        </p15:guide>
        <p15:guide id="4" orient="horz" pos="1146">
          <p15:clr>
            <a:srgbClr val="9AA0A6"/>
          </p15:clr>
        </p15:guide>
        <p15:guide id="5" orient="horz" pos="1582">
          <p15:clr>
            <a:srgbClr val="9AA0A6"/>
          </p15:clr>
        </p15:guide>
        <p15:guide id="6" orient="horz" pos="232">
          <p15:clr>
            <a:srgbClr val="9AA0A6"/>
          </p15:clr>
        </p15:guide>
        <p15:guide id="7" orient="horz" pos="2018">
          <p15:clr>
            <a:srgbClr val="9AA0A6"/>
          </p15:clr>
        </p15:guide>
        <p15:guide id="8" orient="horz" pos="140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07CCADB-18D3-4D90-9E81-168347952210}">
  <a:tblStyle styleId="{907CCADB-18D3-4D90-9E81-16834795221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4BD79C5-1014-4AA1-B2A1-FE97EEBF313A}"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67" orient="horz"/>
        <p:guide pos="267" orient="horz"/>
        <p:guide pos="4606"/>
        <p:guide pos="1146" orient="horz"/>
        <p:guide pos="1582" orient="horz"/>
        <p:guide pos="232" orient="horz"/>
        <p:guide pos="2018" orient="horz"/>
        <p:guide pos="1404"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font" Target="fonts/MarcellusSC-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Marcellu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308301" y="685800"/>
            <a:ext cx="2242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91932cd913_0_0:notes"/>
          <p:cNvSpPr/>
          <p:nvPr>
            <p:ph idx="2" type="sldImg"/>
          </p:nvPr>
        </p:nvSpPr>
        <p:spPr>
          <a:xfrm>
            <a:off x="2308301" y="685800"/>
            <a:ext cx="22422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91932cd91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64952" y="1720796"/>
            <a:ext cx="7242600" cy="4743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64945" y="6549978"/>
            <a:ext cx="7242600" cy="18318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201589" y="10777212"/>
            <a:ext cx="466500" cy="90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64945" y="4970853"/>
            <a:ext cx="7242600" cy="19455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201589" y="10777212"/>
            <a:ext cx="466500" cy="90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64945" y="1028502"/>
            <a:ext cx="7242600" cy="13236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64945" y="2663498"/>
            <a:ext cx="7242600" cy="7895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7201589" y="10777212"/>
            <a:ext cx="466500" cy="90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64945" y="1028502"/>
            <a:ext cx="7242600" cy="13236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64945" y="2663498"/>
            <a:ext cx="3399900" cy="7895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107540" y="2663498"/>
            <a:ext cx="3399900" cy="7895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7201589" y="10777212"/>
            <a:ext cx="466500" cy="90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64945" y="1028502"/>
            <a:ext cx="7242600" cy="13236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201589" y="10777212"/>
            <a:ext cx="466500" cy="90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64945" y="1284053"/>
            <a:ext cx="2386800" cy="17466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64945" y="3211520"/>
            <a:ext cx="2386800" cy="7347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7201589" y="10777212"/>
            <a:ext cx="466500" cy="90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16713" y="1040347"/>
            <a:ext cx="5412600" cy="94542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201589" y="10777212"/>
            <a:ext cx="466500" cy="90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886200" y="-289"/>
            <a:ext cx="3886200" cy="11887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25675" y="2850004"/>
            <a:ext cx="3438300" cy="34260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25675" y="6478218"/>
            <a:ext cx="3438300" cy="2854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198575" y="1673418"/>
            <a:ext cx="3261600" cy="85398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7201589" y="10777212"/>
            <a:ext cx="466500" cy="90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64945" y="9777329"/>
            <a:ext cx="5099100" cy="13983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201589" y="10777212"/>
            <a:ext cx="466500" cy="90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64945" y="2556378"/>
            <a:ext cx="7242600" cy="45378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64945" y="7285142"/>
            <a:ext cx="7242600" cy="3006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7201589" y="10777212"/>
            <a:ext cx="466500" cy="90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201589" y="10777212"/>
            <a:ext cx="466500" cy="90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1028502"/>
            <a:ext cx="7242600" cy="13236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64945" y="2663498"/>
            <a:ext cx="7242600" cy="7895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201589" y="10777212"/>
            <a:ext cx="466500" cy="909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hyperlink" Target="http://www.umak.edu.ph/centers/clp" TargetMode="External"/><Relationship Id="rId6" Type="http://schemas.openxmlformats.org/officeDocument/2006/relationships/hyperlink" Target="mailto:itc_support@umak.edu.ph"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457200" y="442836"/>
            <a:ext cx="426749" cy="414513"/>
          </a:xfrm>
          <a:prstGeom prst="rect">
            <a:avLst/>
          </a:prstGeom>
          <a:noFill/>
          <a:ln>
            <a:noFill/>
          </a:ln>
        </p:spPr>
      </p:pic>
      <p:sp>
        <p:nvSpPr>
          <p:cNvPr id="55" name="Google Shape;55;p13"/>
          <p:cNvSpPr txBox="1"/>
          <p:nvPr/>
        </p:nvSpPr>
        <p:spPr>
          <a:xfrm>
            <a:off x="4252950" y="344477"/>
            <a:ext cx="3154800" cy="312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000">
                <a:latin typeface="Marcellus SC"/>
                <a:ea typeface="Marcellus SC"/>
                <a:cs typeface="Marcellus SC"/>
                <a:sym typeface="Marcellus SC"/>
              </a:rPr>
              <a:t>UNIVERSITY OF MAKATI</a:t>
            </a:r>
            <a:endParaRPr sz="2000">
              <a:latin typeface="Marcellus SC"/>
              <a:ea typeface="Marcellus SC"/>
              <a:cs typeface="Marcellus SC"/>
              <a:sym typeface="Marcellus SC"/>
            </a:endParaRPr>
          </a:p>
        </p:txBody>
      </p:sp>
      <p:sp>
        <p:nvSpPr>
          <p:cNvPr id="56" name="Google Shape;56;p13"/>
          <p:cNvSpPr txBox="1"/>
          <p:nvPr/>
        </p:nvSpPr>
        <p:spPr>
          <a:xfrm>
            <a:off x="4029750" y="657313"/>
            <a:ext cx="33780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Font typeface="Arial"/>
              <a:buNone/>
            </a:pPr>
            <a:r>
              <a:rPr lang="en" sz="1000">
                <a:solidFill>
                  <a:srgbClr val="666666"/>
                </a:solidFill>
              </a:rPr>
              <a:t>J.P Rizal Extension, West Rembo, Makati City</a:t>
            </a:r>
            <a:endParaRPr/>
          </a:p>
        </p:txBody>
      </p:sp>
      <p:cxnSp>
        <p:nvCxnSpPr>
          <p:cNvPr id="57" name="Google Shape;57;p13"/>
          <p:cNvCxnSpPr/>
          <p:nvPr/>
        </p:nvCxnSpPr>
        <p:spPr>
          <a:xfrm>
            <a:off x="457375" y="971820"/>
            <a:ext cx="6848400" cy="0"/>
          </a:xfrm>
          <a:prstGeom prst="straightConnector1">
            <a:avLst/>
          </a:prstGeom>
          <a:noFill/>
          <a:ln cap="flat" cmpd="sng" w="9525">
            <a:solidFill>
              <a:schemeClr val="dk2"/>
            </a:solidFill>
            <a:prstDash val="solid"/>
            <a:round/>
            <a:headEnd len="med" w="med" type="none"/>
            <a:tailEnd len="med" w="med" type="none"/>
          </a:ln>
        </p:spPr>
      </p:cxnSp>
      <p:sp>
        <p:nvSpPr>
          <p:cNvPr id="58" name="Google Shape;58;p13"/>
          <p:cNvSpPr txBox="1"/>
          <p:nvPr/>
        </p:nvSpPr>
        <p:spPr>
          <a:xfrm>
            <a:off x="826475" y="980966"/>
            <a:ext cx="5919600" cy="64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000"/>
              </a:spcBef>
              <a:spcAft>
                <a:spcPts val="0"/>
              </a:spcAft>
              <a:buNone/>
            </a:pPr>
            <a:r>
              <a:rPr lang="en">
                <a:solidFill>
                  <a:schemeClr val="dk1"/>
                </a:solidFill>
                <a:latin typeface="Marcellus"/>
                <a:ea typeface="Marcellus"/>
                <a:cs typeface="Marcellus"/>
                <a:sym typeface="Marcellus"/>
              </a:rPr>
              <a:t>Center for Linkages and Placement</a:t>
            </a:r>
            <a:endParaRPr>
              <a:solidFill>
                <a:schemeClr val="dk1"/>
              </a:solidFill>
              <a:latin typeface="Marcellus"/>
              <a:ea typeface="Marcellus"/>
              <a:cs typeface="Marcellus"/>
              <a:sym typeface="Marcellus"/>
            </a:endParaRPr>
          </a:p>
          <a:p>
            <a:pPr indent="0" lvl="0" marL="0" rtl="0" algn="ctr">
              <a:lnSpc>
                <a:spcPct val="115000"/>
              </a:lnSpc>
              <a:spcBef>
                <a:spcPts val="0"/>
              </a:spcBef>
              <a:spcAft>
                <a:spcPts val="0"/>
              </a:spcAft>
              <a:buNone/>
            </a:pPr>
            <a:r>
              <a:rPr b="1" lang="en">
                <a:solidFill>
                  <a:schemeClr val="dk1"/>
                </a:solidFill>
                <a:latin typeface="Marcellus"/>
                <a:ea typeface="Marcellus"/>
                <a:cs typeface="Marcellus"/>
                <a:sym typeface="Marcellus"/>
              </a:rPr>
              <a:t>Internship Evaluation Form</a:t>
            </a:r>
            <a:endParaRPr b="1">
              <a:solidFill>
                <a:schemeClr val="dk1"/>
              </a:solidFill>
              <a:latin typeface="Marcellus"/>
              <a:ea typeface="Marcellus"/>
              <a:cs typeface="Marcellus"/>
              <a:sym typeface="Marcellus"/>
            </a:endParaRPr>
          </a:p>
        </p:txBody>
      </p:sp>
      <p:graphicFrame>
        <p:nvGraphicFramePr>
          <p:cNvPr id="59" name="Google Shape;59;p13"/>
          <p:cNvGraphicFramePr/>
          <p:nvPr/>
        </p:nvGraphicFramePr>
        <p:xfrm>
          <a:off x="319950" y="3480095"/>
          <a:ext cx="3000000" cy="3000000"/>
        </p:xfrm>
        <a:graphic>
          <a:graphicData uri="http://schemas.openxmlformats.org/drawingml/2006/table">
            <a:tbl>
              <a:tblPr>
                <a:noFill/>
                <a:tableStyleId>{907CCADB-18D3-4D90-9E81-168347952210}</a:tableStyleId>
              </a:tblPr>
              <a:tblGrid>
                <a:gridCol w="6965650"/>
              </a:tblGrid>
              <a:tr h="205875">
                <a:tc>
                  <a:txBody>
                    <a:bodyPr/>
                    <a:lstStyle/>
                    <a:p>
                      <a:pPr indent="0" lvl="0" marL="0" rtl="0" algn="l">
                        <a:spcBef>
                          <a:spcPts val="0"/>
                        </a:spcBef>
                        <a:spcAft>
                          <a:spcPts val="0"/>
                        </a:spcAft>
                        <a:buNone/>
                      </a:pPr>
                      <a:r>
                        <a:t/>
                      </a:r>
                      <a:endParaRPr sz="900"/>
                    </a:p>
                  </a:txBody>
                  <a:tcPr marT="84900" marB="84900"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60" name="Google Shape;60;p13"/>
          <p:cNvSpPr txBox="1"/>
          <p:nvPr/>
        </p:nvSpPr>
        <p:spPr>
          <a:xfrm>
            <a:off x="369625" y="2607963"/>
            <a:ext cx="14454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00">
                <a:solidFill>
                  <a:schemeClr val="dk1"/>
                </a:solidFill>
              </a:rPr>
              <a:t>Questionnaire</a:t>
            </a:r>
            <a:endParaRPr sz="1000"/>
          </a:p>
        </p:txBody>
      </p:sp>
      <p:sp>
        <p:nvSpPr>
          <p:cNvPr id="61" name="Google Shape;61;p13"/>
          <p:cNvSpPr txBox="1"/>
          <p:nvPr/>
        </p:nvSpPr>
        <p:spPr>
          <a:xfrm>
            <a:off x="1306700" y="4074513"/>
            <a:ext cx="2364600" cy="3129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SzPts val="795"/>
              <a:buNone/>
            </a:pPr>
            <a:r>
              <a:t/>
            </a:r>
            <a:endParaRPr sz="1000"/>
          </a:p>
        </p:txBody>
      </p:sp>
      <p:sp>
        <p:nvSpPr>
          <p:cNvPr id="62" name="Google Shape;62;p13"/>
          <p:cNvSpPr txBox="1"/>
          <p:nvPr/>
        </p:nvSpPr>
        <p:spPr>
          <a:xfrm>
            <a:off x="4896275" y="10800"/>
            <a:ext cx="24576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900"/>
              <a:t>CLP-QF-10</a:t>
            </a:r>
            <a:endParaRPr b="1" sz="900"/>
          </a:p>
        </p:txBody>
      </p:sp>
      <p:pic>
        <p:nvPicPr>
          <p:cNvPr id="63" name="Google Shape;63;p13"/>
          <p:cNvPicPr preferRelativeResize="0"/>
          <p:nvPr/>
        </p:nvPicPr>
        <p:blipFill rotWithShape="1">
          <a:blip r:embed="rId4">
            <a:alphaModFix/>
          </a:blip>
          <a:srcRect b="-7" l="0" r="0" t="20768"/>
          <a:stretch/>
        </p:blipFill>
        <p:spPr>
          <a:xfrm>
            <a:off x="1040925" y="511049"/>
            <a:ext cx="724200" cy="323100"/>
          </a:xfrm>
          <a:prstGeom prst="rect">
            <a:avLst/>
          </a:prstGeom>
          <a:noFill/>
          <a:ln>
            <a:noFill/>
          </a:ln>
        </p:spPr>
      </p:pic>
      <p:graphicFrame>
        <p:nvGraphicFramePr>
          <p:cNvPr id="64" name="Google Shape;64;p13"/>
          <p:cNvGraphicFramePr/>
          <p:nvPr/>
        </p:nvGraphicFramePr>
        <p:xfrm>
          <a:off x="369550" y="2979150"/>
          <a:ext cx="3000000" cy="3000000"/>
        </p:xfrm>
        <a:graphic>
          <a:graphicData uri="http://schemas.openxmlformats.org/drawingml/2006/table">
            <a:tbl>
              <a:tblPr>
                <a:noFill/>
                <a:tableStyleId>{907CCADB-18D3-4D90-9E81-168347952210}</a:tableStyleId>
              </a:tblPr>
              <a:tblGrid>
                <a:gridCol w="5068150"/>
                <a:gridCol w="1897500"/>
              </a:tblGrid>
              <a:tr h="4042425">
                <a:tc gridSpan="2">
                  <a:txBody>
                    <a:bodyPr/>
                    <a:lstStyle/>
                    <a:p>
                      <a:pPr indent="0" lvl="0" marL="0" rtl="0" algn="l">
                        <a:spcBef>
                          <a:spcPts val="0"/>
                        </a:spcBef>
                        <a:spcAft>
                          <a:spcPts val="0"/>
                        </a:spcAft>
                        <a:buClr>
                          <a:schemeClr val="dk1"/>
                        </a:buClr>
                        <a:buSzPts val="1100"/>
                        <a:buFont typeface="Arial"/>
                        <a:buNone/>
                      </a:pPr>
                      <a:r>
                        <a:rPr lang="en" sz="900"/>
                        <a:t>Training Company Name: __________________________________________________________________________________</a:t>
                      </a:r>
                      <a:endParaRPr sz="900"/>
                    </a:p>
                    <a:p>
                      <a:pPr indent="0" lvl="0" marL="0" rtl="0" algn="l">
                        <a:spcBef>
                          <a:spcPts val="0"/>
                        </a:spcBef>
                        <a:spcAft>
                          <a:spcPts val="0"/>
                        </a:spcAft>
                        <a:buClr>
                          <a:schemeClr val="dk1"/>
                        </a:buClr>
                        <a:buSzPts val="1100"/>
                        <a:buFont typeface="Arial"/>
                        <a:buNone/>
                      </a:pPr>
                      <a:r>
                        <a:t/>
                      </a:r>
                      <a:endParaRPr sz="900"/>
                    </a:p>
                    <a:p>
                      <a:pPr indent="0" lvl="0" marL="0" rtl="0" algn="l">
                        <a:spcBef>
                          <a:spcPts val="0"/>
                        </a:spcBef>
                        <a:spcAft>
                          <a:spcPts val="0"/>
                        </a:spcAft>
                        <a:buClr>
                          <a:schemeClr val="dk1"/>
                        </a:buClr>
                        <a:buSzPts val="1100"/>
                        <a:buFont typeface="Arial"/>
                        <a:buNone/>
                      </a:pPr>
                      <a:r>
                        <a:rPr lang="en" sz="900"/>
                        <a:t>Inclusive dates of Training:  </a:t>
                      </a:r>
                      <a:r>
                        <a:rPr lang="en" sz="1020"/>
                        <a:t>____________ to ___________     </a:t>
                      </a:r>
                      <a:r>
                        <a:rPr lang="en" sz="900"/>
                        <a:t>Do you have allowance/salary: __Y ___N</a:t>
                      </a:r>
                      <a:endParaRPr sz="1020"/>
                    </a:p>
                    <a:p>
                      <a:pPr indent="0" lvl="0" marL="0" rtl="0" algn="l">
                        <a:spcBef>
                          <a:spcPts val="0"/>
                        </a:spcBef>
                        <a:spcAft>
                          <a:spcPts val="0"/>
                        </a:spcAft>
                        <a:buClr>
                          <a:schemeClr val="dk1"/>
                        </a:buClr>
                        <a:buSzPts val="1100"/>
                        <a:buFont typeface="Arial"/>
                        <a:buNone/>
                      </a:pPr>
                      <a:r>
                        <a:rPr lang="en" sz="520"/>
                        <a:t>                                                                                           Start Date                                             End Date</a:t>
                      </a:r>
                      <a:endParaRPr sz="900"/>
                    </a:p>
                    <a:p>
                      <a:pPr indent="0" lvl="0" marL="0" rtl="0" algn="l">
                        <a:spcBef>
                          <a:spcPts val="0"/>
                        </a:spcBef>
                        <a:spcAft>
                          <a:spcPts val="0"/>
                        </a:spcAft>
                        <a:buClr>
                          <a:schemeClr val="dk1"/>
                        </a:buClr>
                        <a:buSzPts val="1100"/>
                        <a:buFont typeface="Arial"/>
                        <a:buNone/>
                      </a:pPr>
                      <a:r>
                        <a:t/>
                      </a:r>
                      <a:endParaRPr b="1" i="1" sz="900"/>
                    </a:p>
                    <a:p>
                      <a:pPr indent="0" lvl="0" marL="0" rtl="0" algn="l">
                        <a:spcBef>
                          <a:spcPts val="0"/>
                        </a:spcBef>
                        <a:spcAft>
                          <a:spcPts val="0"/>
                        </a:spcAft>
                        <a:buClr>
                          <a:schemeClr val="dk1"/>
                        </a:buClr>
                        <a:buSzPts val="1100"/>
                        <a:buFont typeface="Arial"/>
                        <a:buNone/>
                      </a:pPr>
                      <a:r>
                        <a:rPr b="1" i="1" lang="en" sz="900"/>
                        <a:t>I. Write your answers in one sentence.</a:t>
                      </a:r>
                      <a:endParaRPr b="1" i="1" sz="900"/>
                    </a:p>
                    <a:p>
                      <a:pPr indent="0" lvl="0" marL="0" rtl="0" algn="l">
                        <a:spcBef>
                          <a:spcPts val="0"/>
                        </a:spcBef>
                        <a:spcAft>
                          <a:spcPts val="0"/>
                        </a:spcAft>
                        <a:buClr>
                          <a:schemeClr val="dk1"/>
                        </a:buClr>
                        <a:buSzPts val="1100"/>
                        <a:buFont typeface="Arial"/>
                        <a:buNone/>
                      </a:pPr>
                      <a:r>
                        <a:t/>
                      </a:r>
                      <a:endParaRPr i="1" sz="900"/>
                    </a:p>
                    <a:p>
                      <a:pPr indent="0" lvl="0" marL="285750" rtl="0" algn="l">
                        <a:spcBef>
                          <a:spcPts val="0"/>
                        </a:spcBef>
                        <a:spcAft>
                          <a:spcPts val="0"/>
                        </a:spcAft>
                        <a:buClr>
                          <a:schemeClr val="dk1"/>
                        </a:buClr>
                        <a:buSzPts val="1100"/>
                        <a:buFont typeface="Arial"/>
                        <a:buNone/>
                      </a:pPr>
                      <a:r>
                        <a:rPr lang="en" sz="900"/>
                        <a:t>Did your training company provide you an </a:t>
                      </a:r>
                      <a:r>
                        <a:rPr i="1" lang="en" sz="900" u="sng"/>
                        <a:t>internship training plan</a:t>
                      </a:r>
                      <a:r>
                        <a:rPr lang="en" sz="900"/>
                        <a:t>? </a:t>
                      </a:r>
                      <a:r>
                        <a:rPr lang="en" sz="900"/>
                        <a:t>___Y ___N</a:t>
                      </a:r>
                      <a:endParaRPr sz="700"/>
                    </a:p>
                    <a:p>
                      <a:pPr indent="0" lvl="0" marL="285750" rtl="0" algn="l">
                        <a:spcBef>
                          <a:spcPts val="1000"/>
                        </a:spcBef>
                        <a:spcAft>
                          <a:spcPts val="0"/>
                        </a:spcAft>
                        <a:buClr>
                          <a:schemeClr val="dk1"/>
                        </a:buClr>
                        <a:buSzPts val="1100"/>
                        <a:buFont typeface="Arial"/>
                        <a:buNone/>
                      </a:pPr>
                      <a:r>
                        <a:rPr lang="en" sz="900"/>
                        <a:t>Training setting: </a:t>
                      </a:r>
                      <a:r>
                        <a:rPr lang="en" sz="1000"/>
                        <a:t>     </a:t>
                      </a:r>
                      <a:r>
                        <a:rPr lang="en" sz="800"/>
                        <a:t>W/ HTE: __Online __ Onsite  </a:t>
                      </a:r>
                      <a:r>
                        <a:rPr lang="en" sz="1000"/>
                        <a:t>     </a:t>
                      </a:r>
                      <a:r>
                        <a:rPr lang="en" sz="800"/>
                        <a:t> Mixed: ___Online and Onsite </a:t>
                      </a:r>
                      <a:r>
                        <a:rPr i="1" lang="en" sz="700"/>
                        <a:t>(For Mixed</a:t>
                      </a:r>
                      <a:r>
                        <a:rPr i="1" lang="en" sz="700"/>
                        <a:t>, please provide certificates as attachments.)</a:t>
                      </a:r>
                      <a:endParaRPr i="1" sz="700"/>
                    </a:p>
                    <a:p>
                      <a:pPr indent="0" lvl="0" marL="285750" rtl="0" algn="l">
                        <a:spcBef>
                          <a:spcPts val="1000"/>
                        </a:spcBef>
                        <a:spcAft>
                          <a:spcPts val="0"/>
                        </a:spcAft>
                        <a:buClr>
                          <a:schemeClr val="dk1"/>
                        </a:buClr>
                        <a:buSzPts val="1100"/>
                        <a:buFont typeface="Arial"/>
                        <a:buNone/>
                      </a:pPr>
                      <a:r>
                        <a:rPr lang="en" sz="900"/>
                        <a:t>Describe your duties briefly: </a:t>
                      </a:r>
                      <a:r>
                        <a:rPr lang="en" sz="900"/>
                        <a:t>_____________________________________________________________________________</a:t>
                      </a:r>
                      <a:endParaRPr sz="700"/>
                    </a:p>
                    <a:p>
                      <a:pPr indent="0" lvl="0" marL="285750" rtl="0" algn="l">
                        <a:spcBef>
                          <a:spcPts val="1000"/>
                        </a:spcBef>
                        <a:spcAft>
                          <a:spcPts val="0"/>
                        </a:spcAft>
                        <a:buClr>
                          <a:schemeClr val="dk1"/>
                        </a:buClr>
                        <a:buSzPts val="1100"/>
                        <a:buFont typeface="Arial"/>
                        <a:buNone/>
                      </a:pPr>
                      <a:r>
                        <a:rPr lang="en" sz="900"/>
                        <a:t>What are your strengths as a student intern?</a:t>
                      </a:r>
                      <a:r>
                        <a:rPr lang="en" sz="900"/>
                        <a:t> </a:t>
                      </a:r>
                      <a:r>
                        <a:rPr lang="en" sz="900"/>
                        <a:t>________________________________________________________________</a:t>
                      </a:r>
                      <a:endParaRPr sz="900"/>
                    </a:p>
                    <a:p>
                      <a:pPr indent="0" lvl="0" marL="285750" rtl="0" algn="l">
                        <a:spcBef>
                          <a:spcPts val="0"/>
                        </a:spcBef>
                        <a:spcAft>
                          <a:spcPts val="0"/>
                        </a:spcAft>
                        <a:buClr>
                          <a:schemeClr val="dk1"/>
                        </a:buClr>
                        <a:buSzPts val="1100"/>
                        <a:buFont typeface="Arial"/>
                        <a:buNone/>
                      </a:pPr>
                      <a:r>
                        <a:rPr lang="en" sz="900"/>
                        <a:t>____________________________________________________________________________________________________</a:t>
                      </a:r>
                      <a:endParaRPr sz="700"/>
                    </a:p>
                    <a:p>
                      <a:pPr indent="0" lvl="0" marL="285750" rtl="0" algn="l">
                        <a:spcBef>
                          <a:spcPts val="1000"/>
                        </a:spcBef>
                        <a:spcAft>
                          <a:spcPts val="0"/>
                        </a:spcAft>
                        <a:buClr>
                          <a:schemeClr val="dk1"/>
                        </a:buClr>
                        <a:buSzPts val="1100"/>
                        <a:buFont typeface="Arial"/>
                        <a:buNone/>
                      </a:pPr>
                      <a:r>
                        <a:rPr lang="en" sz="900"/>
                        <a:t>What are your weaknesses as a student intern? _____________________________________________________________</a:t>
                      </a:r>
                      <a:endParaRPr sz="900"/>
                    </a:p>
                    <a:p>
                      <a:pPr indent="0" lvl="0" marL="285750" rtl="0" algn="l">
                        <a:spcBef>
                          <a:spcPts val="0"/>
                        </a:spcBef>
                        <a:spcAft>
                          <a:spcPts val="0"/>
                        </a:spcAft>
                        <a:buClr>
                          <a:schemeClr val="dk1"/>
                        </a:buClr>
                        <a:buSzPts val="1100"/>
                        <a:buFont typeface="Arial"/>
                        <a:buNone/>
                      </a:pPr>
                      <a:r>
                        <a:rPr lang="en" sz="900"/>
                        <a:t>____________________________________________________________________________________________________</a:t>
                      </a:r>
                      <a:endParaRPr sz="900"/>
                    </a:p>
                    <a:p>
                      <a:pPr indent="0" lvl="0" marL="285750" rtl="0" algn="l">
                        <a:spcBef>
                          <a:spcPts val="1000"/>
                        </a:spcBef>
                        <a:spcAft>
                          <a:spcPts val="0"/>
                        </a:spcAft>
                        <a:buClr>
                          <a:schemeClr val="dk1"/>
                        </a:buClr>
                        <a:buSzPts val="1100"/>
                        <a:buFont typeface="Arial"/>
                        <a:buNone/>
                      </a:pPr>
                      <a:r>
                        <a:rPr lang="en" sz="900"/>
                        <a:t>Provide comments/suggestions regarding your overall training experience with your training company ___________________</a:t>
                      </a:r>
                      <a:endParaRPr sz="900"/>
                    </a:p>
                    <a:p>
                      <a:pPr indent="0" lvl="0" marL="285750" rtl="0" algn="l">
                        <a:spcBef>
                          <a:spcPts val="0"/>
                        </a:spcBef>
                        <a:spcAft>
                          <a:spcPts val="0"/>
                        </a:spcAft>
                        <a:buClr>
                          <a:schemeClr val="dk1"/>
                        </a:buClr>
                        <a:buSzPts val="1100"/>
                        <a:buFont typeface="Arial"/>
                        <a:buNone/>
                      </a:pPr>
                      <a:r>
                        <a:rPr lang="en" sz="900"/>
                        <a:t>____________________________________________________________________________________________________</a:t>
                      </a:r>
                      <a:endParaRPr sz="900"/>
                    </a:p>
                    <a:p>
                      <a:pPr indent="0" lvl="0" marL="0" rtl="0" algn="l">
                        <a:spcBef>
                          <a:spcPts val="1000"/>
                        </a:spcBef>
                        <a:spcAft>
                          <a:spcPts val="0"/>
                        </a:spcAft>
                        <a:buClr>
                          <a:schemeClr val="dk1"/>
                        </a:buClr>
                        <a:buSzPts val="1100"/>
                        <a:buFont typeface="Arial"/>
                        <a:buNone/>
                      </a:pPr>
                      <a:r>
                        <a:rPr b="1" i="1" lang="en" sz="900"/>
                        <a:t>II. Answer the questions below.</a:t>
                      </a:r>
                      <a:endParaRPr b="1" sz="900"/>
                    </a:p>
                    <a:p>
                      <a:pPr indent="0" lvl="0" marL="0" rtl="0" algn="l">
                        <a:spcBef>
                          <a:spcPts val="0"/>
                        </a:spcBef>
                        <a:spcAft>
                          <a:spcPts val="0"/>
                        </a:spcAft>
                        <a:buClr>
                          <a:schemeClr val="dk1"/>
                        </a:buClr>
                        <a:buSzPts val="1100"/>
                        <a:buFont typeface="Arial"/>
                        <a:buNone/>
                      </a:pPr>
                      <a:r>
                        <a:t/>
                      </a:r>
                      <a:endParaRPr b="1" sz="700"/>
                    </a:p>
                    <a:p>
                      <a:pPr indent="0" lvl="0" marL="285750" rtl="0" algn="l">
                        <a:spcBef>
                          <a:spcPts val="0"/>
                        </a:spcBef>
                        <a:spcAft>
                          <a:spcPts val="0"/>
                        </a:spcAft>
                        <a:buClr>
                          <a:schemeClr val="dk1"/>
                        </a:buClr>
                        <a:buSzPts val="1100"/>
                        <a:buFont typeface="Arial"/>
                        <a:buNone/>
                      </a:pPr>
                      <a:r>
                        <a:rPr lang="en" sz="900"/>
                        <a:t>Did you </a:t>
                      </a:r>
                      <a:r>
                        <a:rPr i="1" lang="en" sz="900" u="sng"/>
                        <a:t>apply for work</a:t>
                      </a:r>
                      <a:r>
                        <a:rPr lang="en" sz="900"/>
                        <a:t> at your training company?          ___Y ___N    Were you hired </a:t>
                      </a:r>
                      <a:r>
                        <a:rPr i="1" lang="en" sz="900" u="sng"/>
                        <a:t>after</a:t>
                      </a:r>
                      <a:r>
                        <a:rPr lang="en" sz="900"/>
                        <a:t> your internship training? __Y ___N</a:t>
                      </a:r>
                      <a:endParaRPr sz="900"/>
                    </a:p>
                    <a:p>
                      <a:pPr indent="0" lvl="0" marL="285750" rtl="0" algn="l">
                        <a:spcBef>
                          <a:spcPts val="0"/>
                        </a:spcBef>
                        <a:spcAft>
                          <a:spcPts val="0"/>
                        </a:spcAft>
                        <a:buClr>
                          <a:schemeClr val="dk1"/>
                        </a:buClr>
                        <a:buSzPts val="1100"/>
                        <a:buFont typeface="Arial"/>
                        <a:buNone/>
                      </a:pPr>
                      <a:r>
                        <a:t/>
                      </a:r>
                      <a:endParaRPr sz="900"/>
                    </a:p>
                    <a:p>
                      <a:pPr indent="0" lvl="0" marL="285750" rtl="0" algn="l">
                        <a:spcBef>
                          <a:spcPts val="0"/>
                        </a:spcBef>
                        <a:spcAft>
                          <a:spcPts val="0"/>
                        </a:spcAft>
                        <a:buClr>
                          <a:schemeClr val="dk1"/>
                        </a:buClr>
                        <a:buSzPts val="1100"/>
                        <a:buFont typeface="Arial"/>
                        <a:buNone/>
                      </a:pPr>
                      <a:r>
                        <a:rPr lang="en" sz="900"/>
                        <a:t>Did your training company </a:t>
                      </a:r>
                      <a:r>
                        <a:rPr i="1" lang="en" sz="900" u="sng"/>
                        <a:t>invite you to work for them</a:t>
                      </a:r>
                      <a:r>
                        <a:rPr lang="en" sz="900"/>
                        <a:t>? __Y ___N       Did you </a:t>
                      </a:r>
                      <a:r>
                        <a:rPr i="1" lang="en" sz="900" u="sng"/>
                        <a:t>accept</a:t>
                      </a:r>
                      <a:r>
                        <a:rPr lang="en" sz="900"/>
                        <a:t> the job offer?                          __Y ___N</a:t>
                      </a:r>
                      <a:endParaRPr sz="900"/>
                    </a:p>
                    <a:p>
                      <a:pPr indent="0" lvl="0" marL="0" rtl="0" algn="l">
                        <a:spcBef>
                          <a:spcPts val="1000"/>
                        </a:spcBef>
                        <a:spcAft>
                          <a:spcPts val="0"/>
                        </a:spcAft>
                        <a:buNone/>
                      </a:pPr>
                      <a:r>
                        <a:rPr b="1" i="1" lang="en" sz="900"/>
                        <a:t>III. Rate each statement based on your level of agreement or satisfaction, using the Likert Scale provided.</a:t>
                      </a:r>
                      <a:endParaRPr b="1" i="1" sz="900"/>
                    </a:p>
                    <a:p>
                      <a:pPr indent="0" lvl="0" marL="0" rtl="0" algn="l">
                        <a:spcBef>
                          <a:spcPts val="0"/>
                        </a:spcBef>
                        <a:spcAft>
                          <a:spcPts val="0"/>
                        </a:spcAft>
                        <a:buNone/>
                      </a:pPr>
                      <a:r>
                        <a:rPr i="1" lang="en" sz="900"/>
                        <a:t>(Strongly Agree, Neutral, Disagree, Strongly Disagree)</a:t>
                      </a:r>
                      <a:endParaRPr i="1"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r>
              <a:tr h="283525">
                <a:tc>
                  <a:txBody>
                    <a:bodyPr/>
                    <a:lstStyle/>
                    <a:p>
                      <a:pPr indent="0" lvl="0" marL="285750" rtl="0" algn="l">
                        <a:lnSpc>
                          <a:spcPct val="80000"/>
                        </a:lnSpc>
                        <a:spcBef>
                          <a:spcPts val="0"/>
                        </a:spcBef>
                        <a:spcAft>
                          <a:spcPts val="0"/>
                        </a:spcAft>
                        <a:buClr>
                          <a:schemeClr val="dk1"/>
                        </a:buClr>
                        <a:buSzPts val="1100"/>
                        <a:buFont typeface="Arial"/>
                        <a:buNone/>
                      </a:pPr>
                      <a:r>
                        <a:rPr lang="en" sz="900"/>
                        <a:t>The training experience was RELEVANT and/or USEFUL for my studies and future career.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80000"/>
                        </a:lnSpc>
                        <a:spcBef>
                          <a:spcPts val="0"/>
                        </a:spcBef>
                        <a:spcAft>
                          <a:spcPts val="0"/>
                        </a:spcAft>
                        <a:buNone/>
                      </a:pPr>
                      <a:r>
                        <a:rPr lang="en" sz="900"/>
                        <a:t>__________________________</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83525">
                <a:tc>
                  <a:txBody>
                    <a:bodyPr/>
                    <a:lstStyle/>
                    <a:p>
                      <a:pPr indent="0" lvl="0" marL="285750" rtl="0" algn="l">
                        <a:lnSpc>
                          <a:spcPct val="80000"/>
                        </a:lnSpc>
                        <a:spcBef>
                          <a:spcPts val="0"/>
                        </a:spcBef>
                        <a:spcAft>
                          <a:spcPts val="0"/>
                        </a:spcAft>
                        <a:buNone/>
                      </a:pPr>
                      <a:r>
                        <a:rPr lang="en" sz="900"/>
                        <a:t>I was satisfied with the learnings gained and the trainings achieved.</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80000"/>
                        </a:lnSpc>
                        <a:spcBef>
                          <a:spcPts val="0"/>
                        </a:spcBef>
                        <a:spcAft>
                          <a:spcPts val="0"/>
                        </a:spcAft>
                        <a:buClr>
                          <a:schemeClr val="dk1"/>
                        </a:buClr>
                        <a:buSzPts val="1100"/>
                        <a:buFont typeface="Arial"/>
                        <a:buNone/>
                      </a:pPr>
                      <a:r>
                        <a:rPr lang="en" sz="900"/>
                        <a:t>__________________________</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83525">
                <a:tc>
                  <a:txBody>
                    <a:bodyPr/>
                    <a:lstStyle/>
                    <a:p>
                      <a:pPr indent="0" lvl="0" marL="285750" rtl="0" algn="l">
                        <a:lnSpc>
                          <a:spcPct val="80000"/>
                        </a:lnSpc>
                        <a:spcBef>
                          <a:spcPts val="0"/>
                        </a:spcBef>
                        <a:spcAft>
                          <a:spcPts val="0"/>
                        </a:spcAft>
                        <a:buNone/>
                      </a:pPr>
                      <a:r>
                        <a:rPr lang="en" sz="900"/>
                        <a:t>My overall internship experience great!</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80000"/>
                        </a:lnSpc>
                        <a:spcBef>
                          <a:spcPts val="0"/>
                        </a:spcBef>
                        <a:spcAft>
                          <a:spcPts val="0"/>
                        </a:spcAft>
                        <a:buClr>
                          <a:schemeClr val="dk1"/>
                        </a:buClr>
                        <a:buSzPts val="1100"/>
                        <a:buFont typeface="Arial"/>
                        <a:buNone/>
                      </a:pPr>
                      <a:r>
                        <a:rPr lang="en" sz="900"/>
                        <a:t>__________________________</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55000">
                <a:tc>
                  <a:txBody>
                    <a:bodyPr/>
                    <a:lstStyle/>
                    <a:p>
                      <a:pPr indent="0" lvl="0" marL="285750" rtl="0" algn="l">
                        <a:lnSpc>
                          <a:spcPct val="80000"/>
                        </a:lnSpc>
                        <a:spcBef>
                          <a:spcPts val="0"/>
                        </a:spcBef>
                        <a:spcAft>
                          <a:spcPts val="0"/>
                        </a:spcAft>
                        <a:buNone/>
                      </a:pPr>
                      <a:r>
                        <a:rPr lang="en" sz="900"/>
                        <a:t>I will recommend my training company to others for future training or employment.</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80000"/>
                        </a:lnSpc>
                        <a:spcBef>
                          <a:spcPts val="0"/>
                        </a:spcBef>
                        <a:spcAft>
                          <a:spcPts val="0"/>
                        </a:spcAft>
                        <a:buClr>
                          <a:schemeClr val="dk1"/>
                        </a:buClr>
                        <a:buSzPts val="1100"/>
                        <a:buFont typeface="Arial"/>
                        <a:buNone/>
                      </a:pPr>
                      <a:r>
                        <a:rPr lang="en" sz="900"/>
                        <a:t>__________________________</a:t>
                      </a:r>
                      <a:endParaRPr sz="900"/>
                    </a:p>
                    <a:p>
                      <a:pPr indent="0" lvl="0" marL="0" rtl="0" algn="l">
                        <a:lnSpc>
                          <a:spcPct val="80000"/>
                        </a:lnSpc>
                        <a:spcBef>
                          <a:spcPts val="0"/>
                        </a:spcBef>
                        <a:spcAft>
                          <a:spcPts val="0"/>
                        </a:spcAft>
                        <a:buClr>
                          <a:schemeClr val="dk1"/>
                        </a:buClr>
                        <a:buSzPts val="1100"/>
                        <a:buFont typeface="Arial"/>
                        <a:buNone/>
                      </a:pPr>
                      <a:r>
                        <a:t/>
                      </a:r>
                      <a:endParaRPr sz="900"/>
                    </a:p>
                    <a:p>
                      <a:pPr indent="0" lvl="0" marL="0" rtl="0" algn="l">
                        <a:lnSpc>
                          <a:spcPct val="80000"/>
                        </a:lnSpc>
                        <a:spcBef>
                          <a:spcPts val="0"/>
                        </a:spcBef>
                        <a:spcAft>
                          <a:spcPts val="0"/>
                        </a:spcAft>
                        <a:buNone/>
                      </a:pPr>
                      <a:r>
                        <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chemeClr val="dk1"/>
                      </a:solidFill>
                      <a:prstDash val="solid"/>
                      <a:round/>
                      <a:headEnd len="sm" w="sm" type="none"/>
                      <a:tailEnd len="sm" w="sm" type="none"/>
                    </a:lnB>
                  </a:tcPr>
                </a:tc>
              </a:tr>
              <a:tr h="355000">
                <a:tc>
                  <a:txBody>
                    <a:bodyPr/>
                    <a:lstStyle/>
                    <a:p>
                      <a:pPr indent="0" lvl="0" marL="0" rtl="0" algn="l">
                        <a:lnSpc>
                          <a:spcPct val="80000"/>
                        </a:lnSpc>
                        <a:spcBef>
                          <a:spcPts val="0"/>
                        </a:spcBef>
                        <a:spcAft>
                          <a:spcPts val="0"/>
                        </a:spcAft>
                        <a:buNone/>
                      </a:pPr>
                      <a:r>
                        <a:rPr b="1" lang="en" sz="900"/>
                        <a:t>Are you graduating this year?</a:t>
                      </a:r>
                      <a:r>
                        <a:rPr lang="en" sz="900"/>
                        <a:t>    ☐ Yes    ☐ No — If not, what year will you graduate? 20____</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80000"/>
                        </a:lnSpc>
                        <a:spcBef>
                          <a:spcPts val="0"/>
                        </a:spcBef>
                        <a:spcAft>
                          <a:spcPts val="0"/>
                        </a:spcAft>
                        <a:buNone/>
                      </a:pPr>
                      <a:r>
                        <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494675">
                <a:tc gridSpan="2">
                  <a:txBody>
                    <a:bodyPr/>
                    <a:lstStyle/>
                    <a:p>
                      <a:pPr indent="0" lvl="0" marL="0" marR="0" rtl="0" algn="l">
                        <a:lnSpc>
                          <a:spcPct val="115000"/>
                        </a:lnSpc>
                        <a:spcBef>
                          <a:spcPts val="0"/>
                        </a:spcBef>
                        <a:spcAft>
                          <a:spcPts val="0"/>
                        </a:spcAft>
                        <a:buNone/>
                      </a:pPr>
                      <a:r>
                        <a:rPr lang="en" sz="900"/>
                        <a:t>  </a:t>
                      </a:r>
                      <a:r>
                        <a:rPr lang="en" sz="900"/>
                        <a:t>Acquired Total Training Hours:    </a:t>
                      </a:r>
                      <a:r>
                        <a:rPr lang="en" sz="900" u="sng"/>
                        <a:t>_________</a:t>
                      </a:r>
                      <a:r>
                        <a:rPr lang="en" sz="900"/>
                        <a:t>                Acquired Total Alt. Modalities Hours: </a:t>
                      </a:r>
                      <a:r>
                        <a:rPr lang="en" sz="900" u="sng"/>
                        <a:t>___________</a:t>
                      </a:r>
                      <a:endParaRPr sz="900" u="sng"/>
                    </a:p>
                    <a:p>
                      <a:pPr indent="0" lvl="0" marL="0" marR="0" rtl="0" algn="l">
                        <a:lnSpc>
                          <a:spcPct val="115000"/>
                        </a:lnSpc>
                        <a:spcBef>
                          <a:spcPts val="0"/>
                        </a:spcBef>
                        <a:spcAft>
                          <a:spcPts val="0"/>
                        </a:spcAft>
                        <a:buClr>
                          <a:schemeClr val="dk1"/>
                        </a:buClr>
                        <a:buSzPts val="1100"/>
                        <a:buFont typeface="Arial"/>
                        <a:buNone/>
                      </a:pPr>
                      <a:r>
                        <a:rPr lang="en" sz="900"/>
                        <a:t>  Acquired Total Performance Rating:    </a:t>
                      </a:r>
                      <a:r>
                        <a:rPr lang="en" sz="900" u="sng"/>
                        <a:t>_________</a:t>
                      </a:r>
                      <a:r>
                        <a:rPr lang="en" sz="900"/>
                        <a:t>      </a:t>
                      </a:r>
                      <a:r>
                        <a:rPr i="1" lang="en" sz="900"/>
                        <a:t>(For Mixed, please provide certificates as attachments.)</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hMerge="1"/>
              </a:tr>
            </a:tbl>
          </a:graphicData>
        </a:graphic>
      </p:graphicFrame>
      <p:sp>
        <p:nvSpPr>
          <p:cNvPr id="65" name="Google Shape;65;p13"/>
          <p:cNvSpPr txBox="1"/>
          <p:nvPr/>
        </p:nvSpPr>
        <p:spPr>
          <a:xfrm>
            <a:off x="-2559250" y="246625"/>
            <a:ext cx="2457600" cy="10158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To edit the file,</a:t>
            </a:r>
            <a:endParaRPr sz="1800">
              <a:solidFill>
                <a:srgbClr val="FF0000"/>
              </a:solidFill>
            </a:endParaRPr>
          </a:p>
          <a:p>
            <a:pPr indent="0" lvl="0" marL="0" rtl="0" algn="l">
              <a:spcBef>
                <a:spcPts val="0"/>
              </a:spcBef>
              <a:spcAft>
                <a:spcPts val="0"/>
              </a:spcAft>
              <a:buNone/>
            </a:pPr>
            <a:r>
              <a:rPr lang="en" sz="1800">
                <a:solidFill>
                  <a:srgbClr val="FF0000"/>
                </a:solidFill>
              </a:rPr>
              <a:t>Click ‘File’ then ‘Make a Copy’ or Download</a:t>
            </a:r>
            <a:endParaRPr sz="1800">
              <a:solidFill>
                <a:srgbClr val="FF0000"/>
              </a:solidFill>
            </a:endParaRPr>
          </a:p>
        </p:txBody>
      </p:sp>
      <p:cxnSp>
        <p:nvCxnSpPr>
          <p:cNvPr id="66" name="Google Shape;66;p13"/>
          <p:cNvCxnSpPr>
            <a:stCxn id="65" idx="1"/>
          </p:cNvCxnSpPr>
          <p:nvPr/>
        </p:nvCxnSpPr>
        <p:spPr>
          <a:xfrm rot="10800000">
            <a:off x="-5482450" y="-191075"/>
            <a:ext cx="2923200" cy="945600"/>
          </a:xfrm>
          <a:prstGeom prst="straightConnector1">
            <a:avLst/>
          </a:prstGeom>
          <a:noFill/>
          <a:ln cap="flat" cmpd="sng" w="28575">
            <a:solidFill>
              <a:srgbClr val="FF0000"/>
            </a:solidFill>
            <a:prstDash val="solid"/>
            <a:round/>
            <a:headEnd len="med" w="med" type="none"/>
            <a:tailEnd len="med" w="med" type="triangle"/>
          </a:ln>
        </p:spPr>
      </p:cxnSp>
      <p:sp>
        <p:nvSpPr>
          <p:cNvPr id="67" name="Google Shape;67;p13"/>
          <p:cNvSpPr/>
          <p:nvPr/>
        </p:nvSpPr>
        <p:spPr>
          <a:xfrm>
            <a:off x="1633450" y="4361725"/>
            <a:ext cx="95400" cy="99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13"/>
          <p:cNvSpPr/>
          <p:nvPr/>
        </p:nvSpPr>
        <p:spPr>
          <a:xfrm>
            <a:off x="3186613" y="4361725"/>
            <a:ext cx="95400" cy="99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 name="Google Shape;69;p13"/>
          <p:cNvSpPr txBox="1"/>
          <p:nvPr/>
        </p:nvSpPr>
        <p:spPr>
          <a:xfrm>
            <a:off x="4425425" y="11226346"/>
            <a:ext cx="29439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1000">
                <a:solidFill>
                  <a:srgbClr val="666666"/>
                </a:solidFill>
              </a:rPr>
              <a:t>EMAILS:</a:t>
            </a:r>
            <a:r>
              <a:rPr lang="en" sz="1000"/>
              <a:t> </a:t>
            </a:r>
            <a:r>
              <a:rPr lang="en" sz="1000">
                <a:solidFill>
                  <a:srgbClr val="666666"/>
                </a:solidFill>
              </a:rPr>
              <a:t>clp@umak.edu.ph</a:t>
            </a:r>
            <a:endParaRPr sz="1000">
              <a:solidFill>
                <a:srgbClr val="666666"/>
              </a:solidFill>
            </a:endParaRPr>
          </a:p>
          <a:p>
            <a:pPr indent="0" lvl="0" marL="0" rtl="0" algn="r">
              <a:spcBef>
                <a:spcPts val="0"/>
              </a:spcBef>
              <a:spcAft>
                <a:spcPts val="0"/>
              </a:spcAft>
              <a:buNone/>
            </a:pPr>
            <a:r>
              <a:rPr b="1" lang="en" sz="1000">
                <a:solidFill>
                  <a:srgbClr val="666666"/>
                </a:solidFill>
              </a:rPr>
              <a:t>PHONE: </a:t>
            </a:r>
            <a:r>
              <a:rPr lang="en" sz="1000">
                <a:solidFill>
                  <a:srgbClr val="666666"/>
                </a:solidFill>
              </a:rPr>
              <a:t>8883-1876 </a:t>
            </a:r>
            <a:endParaRPr sz="1000">
              <a:solidFill>
                <a:srgbClr val="666666"/>
              </a:solidFill>
            </a:endParaRPr>
          </a:p>
        </p:txBody>
      </p:sp>
      <p:sp>
        <p:nvSpPr>
          <p:cNvPr id="70" name="Google Shape;70;p13"/>
          <p:cNvSpPr txBox="1"/>
          <p:nvPr/>
        </p:nvSpPr>
        <p:spPr>
          <a:xfrm>
            <a:off x="335400" y="11226346"/>
            <a:ext cx="2943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rgbClr val="666666"/>
                </a:solidFill>
              </a:rPr>
              <a:t>WEBSITE:</a:t>
            </a:r>
            <a:r>
              <a:rPr lang="en" sz="1000"/>
              <a:t> </a:t>
            </a:r>
            <a:r>
              <a:rPr lang="en" sz="1000">
                <a:solidFill>
                  <a:srgbClr val="000000"/>
                </a:solidFill>
              </a:rPr>
              <a:t> </a:t>
            </a:r>
            <a:r>
              <a:rPr lang="en" sz="900">
                <a:solidFill>
                  <a:srgbClr val="595959"/>
                </a:solidFill>
                <a:uFill>
                  <a:noFill/>
                </a:uFill>
                <a:hlinkClick r:id="rId5">
                  <a:extLst>
                    <a:ext uri="{A12FA001-AC4F-418D-AE19-62706E023703}">
                      <ahyp:hlinkClr val="tx"/>
                    </a:ext>
                  </a:extLst>
                </a:hlinkClick>
              </a:rPr>
              <a:t>www.umak.edu.ph/clp</a:t>
            </a:r>
            <a:endParaRPr sz="1000"/>
          </a:p>
          <a:p>
            <a:pPr indent="0" lvl="0" marL="0" rtl="0" algn="l">
              <a:spcBef>
                <a:spcPts val="0"/>
              </a:spcBef>
              <a:spcAft>
                <a:spcPts val="0"/>
              </a:spcAft>
              <a:buNone/>
            </a:pPr>
            <a:r>
              <a:rPr b="1" lang="en" sz="1000">
                <a:solidFill>
                  <a:srgbClr val="666666"/>
                </a:solidFill>
              </a:rPr>
              <a:t>FB: </a:t>
            </a:r>
            <a:r>
              <a:rPr lang="en" sz="1000">
                <a:solidFill>
                  <a:srgbClr val="666666"/>
                </a:solidFill>
              </a:rPr>
              <a:t>@UMakCLP</a:t>
            </a:r>
            <a:endParaRPr sz="1000">
              <a:solidFill>
                <a:srgbClr val="666666"/>
              </a:solidFill>
            </a:endParaRPr>
          </a:p>
        </p:txBody>
      </p:sp>
      <p:graphicFrame>
        <p:nvGraphicFramePr>
          <p:cNvPr id="71" name="Google Shape;71;p13"/>
          <p:cNvGraphicFramePr/>
          <p:nvPr/>
        </p:nvGraphicFramePr>
        <p:xfrm>
          <a:off x="385013" y="9554445"/>
          <a:ext cx="3000000" cy="3000000"/>
        </p:xfrm>
        <a:graphic>
          <a:graphicData uri="http://schemas.openxmlformats.org/drawingml/2006/table">
            <a:tbl>
              <a:tblPr>
                <a:noFill/>
                <a:tableStyleId>{44BD79C5-1014-4AA1-B2A1-FE97EEBF313A}</a:tableStyleId>
              </a:tblPr>
              <a:tblGrid>
                <a:gridCol w="6965650"/>
              </a:tblGrid>
              <a:tr h="1061100">
                <a:tc>
                  <a:txBody>
                    <a:bodyPr/>
                    <a:lstStyle/>
                    <a:p>
                      <a:pPr indent="0" lvl="0" marL="0" rtl="0" algn="l">
                        <a:spcBef>
                          <a:spcPts val="0"/>
                        </a:spcBef>
                        <a:spcAft>
                          <a:spcPts val="0"/>
                        </a:spcAft>
                        <a:buNone/>
                      </a:pPr>
                      <a:r>
                        <a:rPr b="1" lang="en" sz="700"/>
                        <a:t>DISCLAIMER FOR UMAK OFFICES (PIP/PIC):</a:t>
                      </a:r>
                      <a:endParaRPr b="1" sz="700"/>
                    </a:p>
                    <a:p>
                      <a:pPr indent="0" lvl="0" marL="0" rtl="0" algn="l">
                        <a:spcBef>
                          <a:spcPts val="0"/>
                        </a:spcBef>
                        <a:spcAft>
                          <a:spcPts val="0"/>
                        </a:spcAft>
                        <a:buNone/>
                      </a:pPr>
                      <a:r>
                        <a:rPr lang="en" sz="700"/>
                        <a:t>The Center for Linkages and Placement of the University of Makati (UMak) recognizes and protects your rights as a data subject by applying appropriate security measures in compliance with existing laws on data privacy, records management and cyber security. We only require the minimum amount of personal information or security information which are necessary for the processing of your transaction with us. By accessing or visiting our facebook page @UMakCLP &amp; website umak.edu.ph/clp, your data will be collected and handled by our designated personnel and will not be shared with third parties, with exceptions provided by law. Please check the box below, so we could process your transaction:</a:t>
                      </a:r>
                      <a:endParaRPr sz="700"/>
                    </a:p>
                    <a:p>
                      <a:pPr indent="0" lvl="0" marL="0" rtl="0" algn="l">
                        <a:spcBef>
                          <a:spcPts val="0"/>
                        </a:spcBef>
                        <a:spcAft>
                          <a:spcPts val="0"/>
                        </a:spcAft>
                        <a:buNone/>
                      </a:pPr>
                      <a:r>
                        <a:rPr lang="en" sz="700"/>
                        <a:t> </a:t>
                      </a:r>
                      <a:endParaRPr sz="700"/>
                    </a:p>
                    <a:p>
                      <a:pPr indent="0" lvl="0" marL="0" rtl="0" algn="l">
                        <a:spcBef>
                          <a:spcPts val="0"/>
                        </a:spcBef>
                        <a:spcAft>
                          <a:spcPts val="0"/>
                        </a:spcAft>
                        <a:buNone/>
                      </a:pPr>
                      <a:r>
                        <a:rPr lang="en" sz="700"/>
                        <a:t>       I am giving my consent for the University of Makati to collect and process my data.</a:t>
                      </a:r>
                      <a:endParaRPr sz="900"/>
                    </a:p>
                  </a:txBody>
                  <a:tcPr marT="58975" marB="58975" marR="63500" marL="63500"/>
                </a:tc>
              </a:tr>
              <a:tr h="479725">
                <a:tc>
                  <a:txBody>
                    <a:bodyPr/>
                    <a:lstStyle/>
                    <a:p>
                      <a:pPr indent="0" lvl="0" marL="0" rtl="0" algn="l">
                        <a:spcBef>
                          <a:spcPts val="0"/>
                        </a:spcBef>
                        <a:spcAft>
                          <a:spcPts val="0"/>
                        </a:spcAft>
                        <a:buNone/>
                      </a:pPr>
                      <a:r>
                        <a:rPr b="1" lang="en" sz="700"/>
                        <a:t>Contact us at:</a:t>
                      </a:r>
                      <a:endParaRPr b="1" sz="700"/>
                    </a:p>
                    <a:p>
                      <a:pPr indent="0" lvl="0" marL="0" rtl="0" algn="l">
                        <a:spcBef>
                          <a:spcPts val="0"/>
                        </a:spcBef>
                        <a:spcAft>
                          <a:spcPts val="0"/>
                        </a:spcAft>
                        <a:buNone/>
                      </a:pPr>
                      <a:r>
                        <a:rPr lang="en" sz="700"/>
                        <a:t>General information: info@umak.edu.ph  | Learning Hub:  tbl.lms@umak.edu.ph |  UMak email: </a:t>
                      </a:r>
                      <a:r>
                        <a:rPr lang="en" sz="700">
                          <a:uFill>
                            <a:noFill/>
                          </a:uFill>
                          <a:hlinkClick r:id="rId6"/>
                        </a:rPr>
                        <a:t>itc_support@umak.edu.ph</a:t>
                      </a:r>
                      <a:r>
                        <a:rPr lang="en" sz="700"/>
                        <a:t>  |  Data Privacy Rights: dprms@umak.edu.ph </a:t>
                      </a:r>
                      <a:endParaRPr sz="700"/>
                    </a:p>
                    <a:p>
                      <a:pPr indent="0" lvl="0" marL="0" rtl="0" algn="l">
                        <a:spcBef>
                          <a:spcPts val="0"/>
                        </a:spcBef>
                        <a:spcAft>
                          <a:spcPts val="0"/>
                        </a:spcAft>
                        <a:buNone/>
                      </a:pPr>
                      <a:r>
                        <a:rPr lang="en" sz="700"/>
                        <a:t> For follow ups on your transaction: clcdp_internships@umak.edu.ph // (02) 8883-1876</a:t>
                      </a:r>
                      <a:endParaRPr sz="700"/>
                    </a:p>
                  </a:txBody>
                  <a:tcPr marT="58975" marB="58975" marR="63500" marL="63500"/>
                </a:tc>
              </a:tr>
            </a:tbl>
          </a:graphicData>
        </a:graphic>
      </p:graphicFrame>
      <p:sp>
        <p:nvSpPr>
          <p:cNvPr id="72" name="Google Shape;72;p13"/>
          <p:cNvSpPr/>
          <p:nvPr/>
        </p:nvSpPr>
        <p:spPr>
          <a:xfrm>
            <a:off x="516475" y="10316259"/>
            <a:ext cx="131700" cy="1224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3"/>
          <p:cNvSpPr txBox="1"/>
          <p:nvPr/>
        </p:nvSpPr>
        <p:spPr>
          <a:xfrm>
            <a:off x="439475" y="1620550"/>
            <a:ext cx="67266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00">
                <a:solidFill>
                  <a:srgbClr val="000000"/>
                </a:solidFill>
              </a:rPr>
              <a:t>Student Profile</a:t>
            </a:r>
            <a:endParaRPr sz="1000"/>
          </a:p>
        </p:txBody>
      </p:sp>
      <p:cxnSp>
        <p:nvCxnSpPr>
          <p:cNvPr id="74" name="Google Shape;74;p13"/>
          <p:cNvCxnSpPr/>
          <p:nvPr/>
        </p:nvCxnSpPr>
        <p:spPr>
          <a:xfrm>
            <a:off x="451350" y="1915700"/>
            <a:ext cx="6848400" cy="0"/>
          </a:xfrm>
          <a:prstGeom prst="straightConnector1">
            <a:avLst/>
          </a:prstGeom>
          <a:noFill/>
          <a:ln cap="flat" cmpd="sng" w="9525">
            <a:solidFill>
              <a:srgbClr val="595959"/>
            </a:solidFill>
            <a:prstDash val="dot"/>
            <a:round/>
            <a:headEnd len="med" w="med" type="none"/>
            <a:tailEnd len="med" w="med" type="none"/>
          </a:ln>
        </p:spPr>
      </p:cxnSp>
      <p:cxnSp>
        <p:nvCxnSpPr>
          <p:cNvPr id="75" name="Google Shape;75;p13"/>
          <p:cNvCxnSpPr/>
          <p:nvPr/>
        </p:nvCxnSpPr>
        <p:spPr>
          <a:xfrm>
            <a:off x="451350" y="1963250"/>
            <a:ext cx="6848400" cy="0"/>
          </a:xfrm>
          <a:prstGeom prst="straightConnector1">
            <a:avLst/>
          </a:prstGeom>
          <a:noFill/>
          <a:ln cap="flat" cmpd="sng" w="9525">
            <a:solidFill>
              <a:srgbClr val="595959"/>
            </a:solidFill>
            <a:prstDash val="dot"/>
            <a:round/>
            <a:headEnd len="med" w="med" type="none"/>
            <a:tailEnd len="med" w="med" type="none"/>
          </a:ln>
        </p:spPr>
      </p:cxnSp>
      <p:sp>
        <p:nvSpPr>
          <p:cNvPr id="76" name="Google Shape;76;p13"/>
          <p:cNvSpPr txBox="1"/>
          <p:nvPr/>
        </p:nvSpPr>
        <p:spPr>
          <a:xfrm>
            <a:off x="369525" y="1960075"/>
            <a:ext cx="6965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rgbClr val="434343"/>
                </a:solidFill>
              </a:rPr>
              <a:t>Student Name:  </a:t>
            </a:r>
            <a:r>
              <a:rPr lang="en" sz="900">
                <a:solidFill>
                  <a:srgbClr val="434343"/>
                </a:solidFill>
              </a:rPr>
              <a:t>_____________________________________________________________________________________________</a:t>
            </a:r>
            <a:endParaRPr sz="900">
              <a:solidFill>
                <a:srgbClr val="434343"/>
              </a:solidFill>
            </a:endParaRPr>
          </a:p>
          <a:p>
            <a:pPr indent="0" lvl="0" marL="1371600" rtl="0" algn="l">
              <a:spcBef>
                <a:spcPts val="0"/>
              </a:spcBef>
              <a:spcAft>
                <a:spcPts val="0"/>
              </a:spcAft>
              <a:buNone/>
            </a:pPr>
            <a:r>
              <a:rPr i="1" lang="en" sz="700">
                <a:solidFill>
                  <a:srgbClr val="434343"/>
                </a:solidFill>
              </a:rPr>
              <a:t>Last Name,                                             First Name,                                                              Middle Name</a:t>
            </a:r>
            <a:endParaRPr sz="900">
              <a:solidFill>
                <a:srgbClr val="434343"/>
              </a:solidFill>
            </a:endParaRPr>
          </a:p>
          <a:p>
            <a:pPr indent="0" lvl="0" marL="0" rtl="0" algn="l">
              <a:spcBef>
                <a:spcPts val="0"/>
              </a:spcBef>
              <a:spcAft>
                <a:spcPts val="0"/>
              </a:spcAft>
              <a:buNone/>
            </a:pPr>
            <a:r>
              <a:t/>
            </a:r>
            <a:endParaRPr sz="600">
              <a:solidFill>
                <a:srgbClr val="434343"/>
              </a:solidFill>
            </a:endParaRPr>
          </a:p>
          <a:p>
            <a:pPr indent="0" lvl="0" marL="0" rtl="0" algn="l">
              <a:spcBef>
                <a:spcPts val="0"/>
              </a:spcBef>
              <a:spcAft>
                <a:spcPts val="1000"/>
              </a:spcAft>
              <a:buNone/>
            </a:pPr>
            <a:r>
              <a:rPr b="1" lang="en" sz="900">
                <a:solidFill>
                  <a:srgbClr val="434343"/>
                </a:solidFill>
              </a:rPr>
              <a:t>College:</a:t>
            </a:r>
            <a:r>
              <a:rPr lang="en" sz="900">
                <a:solidFill>
                  <a:srgbClr val="434343"/>
                </a:solidFill>
              </a:rPr>
              <a:t> _______________</a:t>
            </a:r>
            <a:r>
              <a:rPr lang="en" sz="900">
                <a:solidFill>
                  <a:srgbClr val="434343"/>
                </a:solidFill>
              </a:rPr>
              <a:t>______________________  </a:t>
            </a:r>
            <a:r>
              <a:rPr b="1" lang="en" sz="900">
                <a:solidFill>
                  <a:srgbClr val="434343"/>
                </a:solidFill>
              </a:rPr>
              <a:t>Program: </a:t>
            </a:r>
            <a:r>
              <a:rPr lang="en" sz="900">
                <a:solidFill>
                  <a:srgbClr val="434343"/>
                </a:solidFill>
              </a:rPr>
              <a:t>_______________________________  </a:t>
            </a:r>
            <a:r>
              <a:rPr b="1" lang="en" sz="900">
                <a:solidFill>
                  <a:srgbClr val="434343"/>
                </a:solidFill>
              </a:rPr>
              <a:t>Yr&amp;Sec:</a:t>
            </a:r>
            <a:r>
              <a:rPr lang="en" sz="900">
                <a:solidFill>
                  <a:srgbClr val="434343"/>
                </a:solidFill>
              </a:rPr>
              <a:t>_______</a:t>
            </a:r>
            <a:r>
              <a:rPr b="1" lang="en" sz="900">
                <a:solidFill>
                  <a:srgbClr val="434343"/>
                </a:solidFill>
              </a:rPr>
              <a:t> ______</a:t>
            </a:r>
            <a:endParaRPr sz="900">
              <a:solidFill>
                <a:srgbClr val="434343"/>
              </a:solidFill>
            </a:endParaRPr>
          </a:p>
        </p:txBody>
      </p:sp>
      <p:cxnSp>
        <p:nvCxnSpPr>
          <p:cNvPr id="77" name="Google Shape;77;p13"/>
          <p:cNvCxnSpPr/>
          <p:nvPr/>
        </p:nvCxnSpPr>
        <p:spPr>
          <a:xfrm>
            <a:off x="403725" y="2905450"/>
            <a:ext cx="6848400" cy="0"/>
          </a:xfrm>
          <a:prstGeom prst="straightConnector1">
            <a:avLst/>
          </a:prstGeom>
          <a:noFill/>
          <a:ln cap="flat" cmpd="sng" w="9525">
            <a:solidFill>
              <a:srgbClr val="595959"/>
            </a:solidFill>
            <a:prstDash val="dot"/>
            <a:round/>
            <a:headEnd len="med" w="med" type="none"/>
            <a:tailEnd len="med" w="med" type="none"/>
          </a:ln>
        </p:spPr>
      </p:cxnSp>
      <p:cxnSp>
        <p:nvCxnSpPr>
          <p:cNvPr id="78" name="Google Shape;78;p13"/>
          <p:cNvCxnSpPr/>
          <p:nvPr/>
        </p:nvCxnSpPr>
        <p:spPr>
          <a:xfrm>
            <a:off x="403725" y="2953000"/>
            <a:ext cx="6848400" cy="0"/>
          </a:xfrm>
          <a:prstGeom prst="straightConnector1">
            <a:avLst/>
          </a:prstGeom>
          <a:noFill/>
          <a:ln cap="flat" cmpd="sng" w="9525">
            <a:solidFill>
              <a:srgbClr val="595959"/>
            </a:solidFill>
            <a:prstDash val="dot"/>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