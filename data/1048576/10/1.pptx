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Helvetica World" panose="020B0604020202020204" charset="-128"/>
      <p:regular r:id="rId15"/>
    </p:embeddedFont>
    <p:embeddedFont>
      <p:font typeface="Helvetica World Bold" panose="020B0604020202020204" charset="-128"/>
      <p:regular r:id="rId16"/>
    </p:embeddedFont>
    <p:embeddedFont>
      <p:font typeface="Be Vietnam" panose="020B0604020202020204" charset="0"/>
      <p:regular r:id="rId17"/>
    </p:embeddedFont>
    <p:embeddedFont>
      <p:font typeface="Be Vietnam Ultra-Bold" panose="020B0604020202020204" charset="0"/>
      <p:regular r:id="rId18"/>
    </p:embeddedFont>
    <p:embeddedFont>
      <p:font typeface="Canva Sans" panose="020B0604020202020204" charset="0"/>
      <p:regular r:id="rId19"/>
    </p:embeddedFont>
    <p:embeddedFont>
      <p:font typeface="Canva Sans Bold" panose="020B0604020202020204" charset="0"/>
      <p:regular r:id="rId20"/>
    </p:embeddedFont>
    <p:embeddedFont>
      <p:font typeface="Codec Pro" panose="020B0604020202020204" charset="0"/>
      <p:regular r:id="rId21"/>
    </p:embeddedFont>
    <p:embeddedFont>
      <p:font typeface="Codec Pro Bold" panose="020B0604020202020204" charset="0"/>
      <p:regular r:id="rId22"/>
    </p:embeddedFont>
    <p:embeddedFont>
      <p:font typeface="Poppins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2.sv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sv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4" name="Group 4"/>
          <p:cNvGrpSpPr/>
          <p:nvPr/>
        </p:nvGrpSpPr>
        <p:grpSpPr>
          <a:xfrm>
            <a:off x="1028700" y="4838700"/>
            <a:ext cx="12901283" cy="1825435"/>
            <a:chOff x="0" y="-406400"/>
            <a:chExt cx="17201711" cy="24339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201711" cy="2027514"/>
            </a:xfrm>
            <a:custGeom>
              <a:avLst/>
              <a:gdLst/>
              <a:ahLst/>
              <a:cxnLst/>
              <a:rect l="l" t="t" r="r" b="b"/>
              <a:pathLst>
                <a:path w="17201711" h="2027514">
                  <a:moveTo>
                    <a:pt x="0" y="0"/>
                  </a:moveTo>
                  <a:lnTo>
                    <a:pt x="17201711" y="0"/>
                  </a:lnTo>
                  <a:lnTo>
                    <a:pt x="17201711" y="2027514"/>
                  </a:lnTo>
                  <a:lnTo>
                    <a:pt x="0" y="2027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06400"/>
              <a:ext cx="17201711" cy="164542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40"/>
                </a:lnSpc>
              </a:pPr>
              <a:r>
                <a:rPr lang="en-US" sz="2700" dirty="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Loan Management Web and Mobile Application for the University of Makati Employees Multi-Purpose Cooperative Using Logistic Regression Algorithm</a:t>
              </a:r>
            </a:p>
            <a:p>
              <a:pPr algn="l">
                <a:lnSpc>
                  <a:spcPts val="3240"/>
                </a:lnSpc>
              </a:pPr>
              <a:endParaRPr lang="en-US" sz="2700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2" y="3448351"/>
            <a:ext cx="16487775" cy="1695149"/>
            <a:chOff x="0" y="0"/>
            <a:chExt cx="21983700" cy="22601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83700" cy="2260198"/>
            </a:xfrm>
            <a:custGeom>
              <a:avLst/>
              <a:gdLst/>
              <a:ahLst/>
              <a:cxnLst/>
              <a:rect l="l" t="t" r="r" b="b"/>
              <a:pathLst>
                <a:path w="21983700" h="2260198">
                  <a:moveTo>
                    <a:pt x="0" y="0"/>
                  </a:moveTo>
                  <a:lnTo>
                    <a:pt x="21983700" y="0"/>
                  </a:lnTo>
                  <a:lnTo>
                    <a:pt x="21983700" y="2260198"/>
                  </a:lnTo>
                  <a:lnTo>
                    <a:pt x="0" y="22601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29799"/>
              <a:ext cx="21983700" cy="193039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20"/>
                </a:lnSpc>
              </a:pPr>
              <a:r>
                <a:rPr lang="en-US" sz="6375" b="1" spc="-127" dirty="0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UMEMPC Transact: 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2" y="1753203"/>
            <a:ext cx="4836504" cy="1409098"/>
            <a:chOff x="0" y="0"/>
            <a:chExt cx="6448673" cy="18987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08786" cy="1890721"/>
            </a:xfrm>
            <a:custGeom>
              <a:avLst/>
              <a:gdLst/>
              <a:ahLst/>
              <a:cxnLst/>
              <a:rect l="l" t="t" r="r" b="b"/>
              <a:pathLst>
                <a:path w="1908786" h="1890721">
                  <a:moveTo>
                    <a:pt x="0" y="0"/>
                  </a:moveTo>
                  <a:lnTo>
                    <a:pt x="1908786" y="0"/>
                  </a:lnTo>
                  <a:lnTo>
                    <a:pt x="1908786" y="1890721"/>
                  </a:lnTo>
                  <a:lnTo>
                    <a:pt x="0" y="1890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265697" y="0"/>
              <a:ext cx="1919155" cy="1898782"/>
            </a:xfrm>
            <a:custGeom>
              <a:avLst/>
              <a:gdLst/>
              <a:ahLst/>
              <a:cxnLst/>
              <a:rect l="l" t="t" r="r" b="b"/>
              <a:pathLst>
                <a:path w="1919155" h="1898782">
                  <a:moveTo>
                    <a:pt x="0" y="0"/>
                  </a:moveTo>
                  <a:lnTo>
                    <a:pt x="1919155" y="0"/>
                  </a:lnTo>
                  <a:lnTo>
                    <a:pt x="1919155" y="1898782"/>
                  </a:lnTo>
                  <a:lnTo>
                    <a:pt x="0" y="1898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4549891" y="0"/>
              <a:ext cx="1898782" cy="1898782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PH"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028702" y="7773962"/>
            <a:ext cx="9673009" cy="81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Innovative Programmers version 3 (IPv3)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Julina Kay Gacura, Edgar Palen Jr., and Aaron Patrick Planta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IV - ACSAD, College of Computing and Information Sciences (CCIS)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4015464" y="910888"/>
            <a:ext cx="9121422" cy="8229600"/>
          </a:xfrm>
          <a:custGeom>
            <a:avLst/>
            <a:gdLst/>
            <a:ahLst/>
            <a:cxnLst/>
            <a:rect l="l" t="t" r="r" b="b"/>
            <a:pathLst>
              <a:path w="9121422" h="8229600">
                <a:moveTo>
                  <a:pt x="0" y="0"/>
                </a:moveTo>
                <a:lnTo>
                  <a:pt x="9121423" y="0"/>
                </a:lnTo>
                <a:lnTo>
                  <a:pt x="912142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Freeform 5"/>
          <p:cNvSpPr/>
          <p:nvPr/>
        </p:nvSpPr>
        <p:spPr>
          <a:xfrm>
            <a:off x="13136887" y="2950265"/>
            <a:ext cx="4253620" cy="1987601"/>
          </a:xfrm>
          <a:custGeom>
            <a:avLst/>
            <a:gdLst/>
            <a:ahLst/>
            <a:cxnLst/>
            <a:rect l="l" t="t" r="r" b="b"/>
            <a:pathLst>
              <a:path w="4253620" h="1987601">
                <a:moveTo>
                  <a:pt x="0" y="0"/>
                </a:moveTo>
                <a:lnTo>
                  <a:pt x="4253620" y="0"/>
                </a:lnTo>
                <a:lnTo>
                  <a:pt x="4253620" y="1987601"/>
                </a:lnTo>
                <a:lnTo>
                  <a:pt x="0" y="19876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6" name="Group 6"/>
          <p:cNvGrpSpPr/>
          <p:nvPr/>
        </p:nvGrpSpPr>
        <p:grpSpPr>
          <a:xfrm>
            <a:off x="4286713" y="4190166"/>
            <a:ext cx="1889036" cy="188903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97493" y="4459963"/>
            <a:ext cx="2736092" cy="161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3"/>
              </a:lnSpc>
            </a:pPr>
            <a:r>
              <a:rPr lang="en-US" sz="3721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Loan Application Process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60252" y="1129885"/>
            <a:ext cx="282186" cy="118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67"/>
              </a:lnSpc>
            </a:pPr>
            <a:r>
              <a:rPr lang="en-US" sz="751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76175" y="3463969"/>
            <a:ext cx="571026" cy="118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67"/>
              </a:lnSpc>
            </a:pPr>
            <a:r>
              <a:rPr lang="en-US" sz="751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76175" y="5677431"/>
            <a:ext cx="571026" cy="118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67"/>
              </a:lnSpc>
            </a:pPr>
            <a:r>
              <a:rPr lang="en-US" sz="751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7856" y="7833064"/>
            <a:ext cx="571026" cy="118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67"/>
              </a:lnSpc>
            </a:pPr>
            <a:r>
              <a:rPr lang="en-US" sz="751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43539" y="1129885"/>
            <a:ext cx="3212065" cy="959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277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Member fills application form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36012" y="3463969"/>
            <a:ext cx="3212065" cy="959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277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Management Evaluation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12844" y="3799419"/>
            <a:ext cx="1225090" cy="26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53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Bookkeeper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263697" y="3120284"/>
            <a:ext cx="1408801" cy="26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53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 Salary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263697" y="3799419"/>
            <a:ext cx="2085632" cy="26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53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 Loan Balances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263697" y="4450438"/>
            <a:ext cx="1959935" cy="26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53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 Share Capital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58710" y="5921243"/>
            <a:ext cx="3212065" cy="4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277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Credit Committee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21060" y="8124452"/>
            <a:ext cx="3212065" cy="4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277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Management</a:t>
            </a:r>
          </a:p>
        </p:txBody>
      </p:sp>
      <p:sp>
        <p:nvSpPr>
          <p:cNvPr id="21" name="Freeform 21"/>
          <p:cNvSpPr/>
          <p:nvPr/>
        </p:nvSpPr>
        <p:spPr>
          <a:xfrm>
            <a:off x="13136887" y="5185303"/>
            <a:ext cx="4253620" cy="1987601"/>
          </a:xfrm>
          <a:custGeom>
            <a:avLst/>
            <a:gdLst/>
            <a:ahLst/>
            <a:cxnLst/>
            <a:rect l="l" t="t" r="r" b="b"/>
            <a:pathLst>
              <a:path w="4253620" h="1987601">
                <a:moveTo>
                  <a:pt x="0" y="0"/>
                </a:moveTo>
                <a:lnTo>
                  <a:pt x="4253620" y="0"/>
                </a:lnTo>
                <a:lnTo>
                  <a:pt x="4253620" y="1987601"/>
                </a:lnTo>
                <a:lnTo>
                  <a:pt x="0" y="19876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2" name="TextBox 22"/>
          <p:cNvSpPr txBox="1"/>
          <p:nvPr/>
        </p:nvSpPr>
        <p:spPr>
          <a:xfrm>
            <a:off x="13412844" y="6034457"/>
            <a:ext cx="1225090" cy="26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53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Audit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263697" y="5355322"/>
            <a:ext cx="1408801" cy="26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53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Computation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63697" y="6034457"/>
            <a:ext cx="979967" cy="26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53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Recheck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63697" y="6685476"/>
            <a:ext cx="1693313" cy="26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53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Recommendees </a:t>
            </a:r>
          </a:p>
        </p:txBody>
      </p:sp>
      <p:sp>
        <p:nvSpPr>
          <p:cNvPr id="26" name="Freeform 26"/>
          <p:cNvSpPr/>
          <p:nvPr/>
        </p:nvSpPr>
        <p:spPr>
          <a:xfrm>
            <a:off x="10242978" y="7388512"/>
            <a:ext cx="4253620" cy="1987601"/>
          </a:xfrm>
          <a:custGeom>
            <a:avLst/>
            <a:gdLst/>
            <a:ahLst/>
            <a:cxnLst/>
            <a:rect l="l" t="t" r="r" b="b"/>
            <a:pathLst>
              <a:path w="4253620" h="1987601">
                <a:moveTo>
                  <a:pt x="0" y="0"/>
                </a:moveTo>
                <a:lnTo>
                  <a:pt x="4253621" y="0"/>
                </a:lnTo>
                <a:lnTo>
                  <a:pt x="4253621" y="1987600"/>
                </a:lnTo>
                <a:lnTo>
                  <a:pt x="0" y="1987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7" name="TextBox 27"/>
          <p:cNvSpPr txBox="1"/>
          <p:nvPr/>
        </p:nvSpPr>
        <p:spPr>
          <a:xfrm>
            <a:off x="10518936" y="8237665"/>
            <a:ext cx="1225090" cy="26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53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Bookkeeper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456784" y="7574926"/>
            <a:ext cx="1655600" cy="26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53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Prepare Voucher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456784" y="8237665"/>
            <a:ext cx="1478797" cy="26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53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Prepare Check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43779" y="8898434"/>
            <a:ext cx="1568605" cy="26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53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 Releasing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901004" y="2629186"/>
            <a:ext cx="16485991" cy="487259"/>
            <a:chOff x="0" y="0"/>
            <a:chExt cx="21981322" cy="6496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81322" cy="649679"/>
            </a:xfrm>
            <a:custGeom>
              <a:avLst/>
              <a:gdLst/>
              <a:ahLst/>
              <a:cxnLst/>
              <a:rect l="l" t="t" r="r" b="b"/>
              <a:pathLst>
                <a:path w="21981322" h="649679">
                  <a:moveTo>
                    <a:pt x="0" y="0"/>
                  </a:moveTo>
                  <a:lnTo>
                    <a:pt x="21981322" y="0"/>
                  </a:lnTo>
                  <a:lnTo>
                    <a:pt x="21981322" y="649679"/>
                  </a:lnTo>
                  <a:lnTo>
                    <a:pt x="0" y="6496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21981322" cy="63062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16"/>
                </a:lnSpc>
              </a:pPr>
              <a:r>
                <a:rPr lang="en-US" sz="2700" b="1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Office Name / Header</a:t>
              </a:r>
            </a:p>
          </p:txBody>
        </p:sp>
      </p:grpSp>
      <p:sp>
        <p:nvSpPr>
          <p:cNvPr id="6" name="Freeform 6" descr="Bowl with salmon cakes, salad, and hummus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40"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028700" y="3259668"/>
            <a:ext cx="8115300" cy="4654838"/>
            <a:chOff x="0" y="0"/>
            <a:chExt cx="7981950" cy="4578350"/>
          </a:xfrm>
        </p:grpSpPr>
        <p:sp>
          <p:nvSpPr>
            <p:cNvPr id="8" name="Freeform 8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t="-10141" b="-9697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9144000" y="2216858"/>
          <a:ext cx="8394935" cy="6740459"/>
        </p:xfrm>
        <a:graphic>
          <a:graphicData uri="http://schemas.openxmlformats.org/drawingml/2006/table">
            <a:tbl>
              <a:tblPr/>
              <a:tblGrid>
                <a:gridCol w="1056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8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0328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Members’ visits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0328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2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Inefficient tool or application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4205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3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No update, no progress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0648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4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Manual calculation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4950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5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Members’ lack of real-time access to transactions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4"/>
          <p:cNvSpPr txBox="1"/>
          <p:nvPr/>
        </p:nvSpPr>
        <p:spPr>
          <a:xfrm>
            <a:off x="1028700" y="930596"/>
            <a:ext cx="16649700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53"/>
              </a:lnSpc>
              <a:spcBef>
                <a:spcPct val="0"/>
              </a:spcBef>
            </a:pPr>
            <a:r>
              <a:rPr lang="en-US" sz="4466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Issues currently faced by UMEMPC in loan management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704359" y="2909694"/>
            <a:ext cx="8862995" cy="5083707"/>
            <a:chOff x="0" y="0"/>
            <a:chExt cx="7981950" cy="4578350"/>
          </a:xfrm>
        </p:grpSpPr>
        <p:sp>
          <p:nvSpPr>
            <p:cNvPr id="5" name="Freeform 5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Freeform 7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8" name="Freeform 8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9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l="-13765" t="-4775" r="-13574" b="-9677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1027192" y="1028700"/>
            <a:ext cx="4159154" cy="8229600"/>
            <a:chOff x="0" y="0"/>
            <a:chExt cx="2620010" cy="5184140"/>
          </a:xfrm>
        </p:grpSpPr>
        <p:sp>
          <p:nvSpPr>
            <p:cNvPr id="11" name="Freeform 11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59657" t="-8376" r="-157862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PH"/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1991589" y="1081196"/>
            <a:ext cx="3244797" cy="410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1"/>
              </a:lnSpc>
              <a:spcBef>
                <a:spcPct val="0"/>
              </a:spcBef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028700" y="990600"/>
            <a:ext cx="5718099" cy="869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5500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Research Design</a:t>
            </a:r>
          </a:p>
        </p:txBody>
      </p:sp>
      <p:sp>
        <p:nvSpPr>
          <p:cNvPr id="6" name="Freeform 6"/>
          <p:cNvSpPr/>
          <p:nvPr/>
        </p:nvSpPr>
        <p:spPr>
          <a:xfrm>
            <a:off x="9885966" y="2379361"/>
            <a:ext cx="6922569" cy="6878939"/>
          </a:xfrm>
          <a:custGeom>
            <a:avLst/>
            <a:gdLst/>
            <a:ahLst/>
            <a:cxnLst/>
            <a:rect l="l" t="t" r="r" b="b"/>
            <a:pathLst>
              <a:path w="6922569" h="6878939">
                <a:moveTo>
                  <a:pt x="0" y="0"/>
                </a:moveTo>
                <a:lnTo>
                  <a:pt x="6922569" y="0"/>
                </a:lnTo>
                <a:lnTo>
                  <a:pt x="6922569" y="6878939"/>
                </a:lnTo>
                <a:lnTo>
                  <a:pt x="0" y="6878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7" name="TextBox 7"/>
          <p:cNvSpPr txBox="1"/>
          <p:nvPr/>
        </p:nvSpPr>
        <p:spPr>
          <a:xfrm>
            <a:off x="1403775" y="5946408"/>
            <a:ext cx="5530425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Developmental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32028" y="4975805"/>
            <a:ext cx="4339696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Descriptive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36885" y="4002985"/>
            <a:ext cx="4967949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Experimental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35201" y="1037985"/>
            <a:ext cx="7824099" cy="869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5500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Research Methodology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2867600" y="1930603"/>
            <a:ext cx="12552800" cy="7327697"/>
          </a:xfrm>
          <a:custGeom>
            <a:avLst/>
            <a:gdLst/>
            <a:ahLst/>
            <a:cxnLst/>
            <a:rect l="l" t="t" r="r" b="b"/>
            <a:pathLst>
              <a:path w="12552800" h="7327697">
                <a:moveTo>
                  <a:pt x="0" y="0"/>
                </a:moveTo>
                <a:lnTo>
                  <a:pt x="12552800" y="0"/>
                </a:lnTo>
                <a:lnTo>
                  <a:pt x="12552800" y="7327697"/>
                </a:lnTo>
                <a:lnTo>
                  <a:pt x="0" y="7327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TextBox 5"/>
          <p:cNvSpPr txBox="1"/>
          <p:nvPr/>
        </p:nvSpPr>
        <p:spPr>
          <a:xfrm>
            <a:off x="4956564" y="537527"/>
            <a:ext cx="837487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Machine Learning Model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1800225" y="964206"/>
            <a:ext cx="14687550" cy="84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6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 Development Result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9626640" y="2777089"/>
          <a:ext cx="3841870" cy="5187361"/>
        </p:xfrm>
        <a:graphic>
          <a:graphicData uri="http://schemas.openxmlformats.org/drawingml/2006/table">
            <a:tbl>
              <a:tblPr/>
              <a:tblGrid>
                <a:gridCol w="1920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1615">
                <a:tc>
                  <a:txBody>
                    <a:bodyPr/>
                    <a:lstStyle/>
                    <a:p>
                      <a:pPr algn="ctr">
                        <a:lnSpc>
                          <a:spcPts val="2814"/>
                        </a:lnSpc>
                        <a:defRPr/>
                      </a:pPr>
                      <a:r>
                        <a:rPr lang="en-US" sz="2010" b="1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Metrics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4"/>
                        </a:lnSpc>
                        <a:defRPr/>
                      </a:pPr>
                      <a:r>
                        <a:rPr lang="en-US" sz="2010" b="1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Result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615">
                <a:tc>
                  <a:txBody>
                    <a:bodyPr/>
                    <a:lstStyle/>
                    <a:p>
                      <a:pPr algn="ctr">
                        <a:lnSpc>
                          <a:spcPts val="2814"/>
                        </a:lnSpc>
                        <a:defRPr/>
                      </a:pPr>
                      <a:r>
                        <a:rPr lang="en-US" sz="2010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Accuracy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4"/>
                        </a:lnSpc>
                        <a:defRPr/>
                      </a:pPr>
                      <a:r>
                        <a:rPr lang="en-US" sz="2010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93%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678">
                <a:tc>
                  <a:txBody>
                    <a:bodyPr/>
                    <a:lstStyle/>
                    <a:p>
                      <a:pPr algn="ctr">
                        <a:lnSpc>
                          <a:spcPts val="2814"/>
                        </a:lnSpc>
                        <a:defRPr/>
                      </a:pPr>
                      <a:r>
                        <a:rPr lang="en-US" sz="2010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Precision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4"/>
                        </a:lnSpc>
                        <a:defRPr/>
                      </a:pPr>
                      <a:r>
                        <a:rPr lang="en-US" sz="2010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96%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1615">
                <a:tc>
                  <a:txBody>
                    <a:bodyPr/>
                    <a:lstStyle/>
                    <a:p>
                      <a:pPr algn="ctr">
                        <a:lnSpc>
                          <a:spcPts val="2814"/>
                        </a:lnSpc>
                        <a:defRPr/>
                      </a:pPr>
                      <a:r>
                        <a:rPr lang="en-US" sz="2010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Recall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4"/>
                        </a:lnSpc>
                        <a:defRPr/>
                      </a:pPr>
                      <a:r>
                        <a:rPr lang="en-US" sz="2010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94%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1615">
                <a:tc>
                  <a:txBody>
                    <a:bodyPr/>
                    <a:lstStyle/>
                    <a:p>
                      <a:pPr algn="ctr">
                        <a:lnSpc>
                          <a:spcPts val="2814"/>
                        </a:lnSpc>
                        <a:defRPr/>
                      </a:pPr>
                      <a:r>
                        <a:rPr lang="en-US" sz="2010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F1 Score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4"/>
                        </a:lnSpc>
                        <a:defRPr/>
                      </a:pPr>
                      <a:r>
                        <a:rPr lang="en-US" sz="2010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95%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0254">
                <a:tc>
                  <a:txBody>
                    <a:bodyPr/>
                    <a:lstStyle/>
                    <a:p>
                      <a:pPr algn="ctr">
                        <a:lnSpc>
                          <a:spcPts val="2814"/>
                        </a:lnSpc>
                        <a:defRPr/>
                      </a:pPr>
                      <a:r>
                        <a:rPr lang="en-US" sz="2010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Mean Average Precision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82"/>
                        </a:lnSpc>
                        <a:defRPr/>
                      </a:pPr>
                      <a:r>
                        <a:rPr lang="en-US" sz="2272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84%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79315"/>
              </p:ext>
            </p:extLst>
          </p:nvPr>
        </p:nvGraphicFramePr>
        <p:xfrm>
          <a:off x="3324761" y="2247900"/>
          <a:ext cx="4792007" cy="5735988"/>
        </p:xfrm>
        <a:graphic>
          <a:graphicData uri="http://schemas.openxmlformats.org/drawingml/2006/table">
            <a:tbl>
              <a:tblPr/>
              <a:tblGrid>
                <a:gridCol w="1232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4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34629"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 b="1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Fold #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 b="1" dirty="0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Proposed Random Forest Model</a:t>
                      </a:r>
                      <a:endParaRPr lang="en-US" sz="1100" dirty="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 b="1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Logistic Regression Model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560"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k1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 dirty="0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0.945</a:t>
                      </a:r>
                      <a:endParaRPr lang="en-US" sz="1100" dirty="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0.92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560"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k2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0.95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0.925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560"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k3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0.955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0.93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4560"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k4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0.925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0.91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4560"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k5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0.96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0.925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4560"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Average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0.9470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0.922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4560">
                <a:tc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p-value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 dirty="0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0.0014</a:t>
                      </a:r>
                      <a:endParaRPr lang="en-US" sz="1100" dirty="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203"/>
                        </a:lnSpc>
                        <a:defRPr/>
                      </a:pPr>
                      <a:r>
                        <a:rPr lang="en-US" sz="1573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0.0014</a:t>
                      </a:r>
                      <a:endParaRPr lang="en-US" sz="1100"/>
                    </a:p>
                  </a:txBody>
                  <a:tcPr marL="166538" marR="166538" marT="166538" marB="166538" anchor="ctr">
                    <a:lnL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118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9626640" y="8804817"/>
            <a:ext cx="3844834" cy="432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3"/>
              </a:lnSpc>
            </a:pPr>
            <a:r>
              <a:rPr lang="en-US" sz="2602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Development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24761" y="8816877"/>
            <a:ext cx="4624608" cy="432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3"/>
              </a:lnSpc>
            </a:pPr>
            <a:r>
              <a:rPr lang="en-US" sz="2602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Classification Accuracy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800225" y="1095375"/>
            <a:ext cx="14687550" cy="84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6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Evaluation Results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08" y="1967207"/>
            <a:ext cx="12708253" cy="8040996"/>
          </a:xfrm>
          <a:prstGeom prst="rect">
            <a:avLst/>
          </a:prstGeom>
        </p:spPr>
      </p:pic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2906569" y="2947148"/>
          <a:ext cx="3408860" cy="2329937"/>
        </p:xfrm>
        <a:graphic>
          <a:graphicData uri="http://schemas.openxmlformats.org/drawingml/2006/table">
            <a:tbl>
              <a:tblPr/>
              <a:tblGrid>
                <a:gridCol w="1670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2507">
                <a:tc gridSpan="2"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  <a:defRPr/>
                      </a:pPr>
                      <a:r>
                        <a:rPr lang="en-US" sz="1742" b="1">
                          <a:solidFill>
                            <a:srgbClr val="FFFFFF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End Users</a:t>
                      </a:r>
                      <a:endParaRPr lang="en-US" sz="1100"/>
                    </a:p>
                  </a:txBody>
                  <a:tcPr marL="171732" marR="171732" marT="171732" marB="171732" anchor="ctr">
                    <a:lnL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  <a:defRPr/>
                      </a:pPr>
                      <a:r>
                        <a:rPr lang="en-US" sz="1742" b="1">
                          <a:solidFill>
                            <a:srgbClr val="FFFFFF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End Users</a:t>
                      </a:r>
                      <a:endParaRPr lang="en-US" sz="1100"/>
                    </a:p>
                  </a:txBody>
                  <a:tcPr marL="171732" marR="171732" marT="171732" marB="171732" anchor="ctr">
                    <a:lnL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4923">
                <a:tc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  <a:defRPr/>
                      </a:pPr>
                      <a:r>
                        <a:rPr lang="en-US" sz="1742" b="1">
                          <a:solidFill>
                            <a:srgbClr val="FFFFFF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Ave. Mean Ratings</a:t>
                      </a:r>
                      <a:endParaRPr lang="en-US" sz="1100"/>
                    </a:p>
                  </a:txBody>
                  <a:tcPr marL="171732" marR="171732" marT="171732" marB="171732" anchor="ctr">
                    <a:lnL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  <a:defRPr/>
                      </a:pPr>
                      <a:r>
                        <a:rPr lang="en-US" sz="1742" b="1">
                          <a:solidFill>
                            <a:srgbClr val="FFFFFF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Ave. Remarks</a:t>
                      </a:r>
                      <a:endParaRPr lang="en-US" sz="1100"/>
                    </a:p>
                  </a:txBody>
                  <a:tcPr marL="171732" marR="171732" marT="171732" marB="171732" anchor="ctr">
                    <a:lnL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507">
                <a:tc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  <a:defRPr/>
                      </a:pPr>
                      <a:r>
                        <a:rPr lang="en-US" sz="1742">
                          <a:solidFill>
                            <a:srgbClr val="FFFFFF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4.36</a:t>
                      </a:r>
                      <a:endParaRPr lang="en-US" sz="1100"/>
                    </a:p>
                  </a:txBody>
                  <a:tcPr marL="171732" marR="171732" marT="171732" marB="171732" anchor="ctr">
                    <a:lnL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  <a:defRPr/>
                      </a:pPr>
                      <a:r>
                        <a:rPr lang="en-US" sz="1742">
                          <a:solidFill>
                            <a:srgbClr val="FFFFFF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Acceptable</a:t>
                      </a:r>
                      <a:endParaRPr lang="en-US" sz="1100"/>
                    </a:p>
                  </a:txBody>
                  <a:tcPr marL="171732" marR="171732" marT="171732" marB="171732" anchor="ctr">
                    <a:lnL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2906569" y="2947148"/>
          <a:ext cx="3408860" cy="653944"/>
        </p:xfrm>
        <a:graphic>
          <a:graphicData uri="http://schemas.openxmlformats.org/drawingml/2006/table">
            <a:tbl>
              <a:tblPr/>
              <a:tblGrid>
                <a:gridCol w="1670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944">
                <a:tc gridSpan="2"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  <a:defRPr/>
                      </a:pPr>
                      <a:r>
                        <a:rPr lang="en-US" sz="1742" b="1">
                          <a:solidFill>
                            <a:srgbClr val="FFFFFF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End Users</a:t>
                      </a:r>
                      <a:endParaRPr lang="en-US" sz="1100"/>
                    </a:p>
                  </a:txBody>
                  <a:tcPr marL="171732" marR="171732" marT="171732" marB="171732" anchor="ctr">
                    <a:lnL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A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  <a:defRPr/>
                      </a:pPr>
                      <a:r>
                        <a:rPr lang="en-US" sz="1742" b="1">
                          <a:solidFill>
                            <a:srgbClr val="FFFFFF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End Users</a:t>
                      </a:r>
                      <a:endParaRPr lang="en-US" sz="1100"/>
                    </a:p>
                  </a:txBody>
                  <a:tcPr marL="171732" marR="171732" marT="171732" marB="171732" anchor="ctr">
                    <a:lnL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2906569" y="6364615"/>
          <a:ext cx="3408860" cy="2608600"/>
        </p:xfrm>
        <a:graphic>
          <a:graphicData uri="http://schemas.openxmlformats.org/drawingml/2006/table">
            <a:tbl>
              <a:tblPr/>
              <a:tblGrid>
                <a:gridCol w="1670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1526">
                <a:tc gridSpan="2"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  <a:defRPr/>
                      </a:pPr>
                      <a:r>
                        <a:rPr lang="en-US" sz="1742" b="1">
                          <a:solidFill>
                            <a:srgbClr val="FFFFFF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End Users</a:t>
                      </a:r>
                      <a:endParaRPr lang="en-US" sz="1100"/>
                    </a:p>
                  </a:txBody>
                  <a:tcPr marL="171732" marR="171732" marT="171732" marB="171732" anchor="ctr">
                    <a:lnL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  <a:defRPr/>
                      </a:pPr>
                      <a:r>
                        <a:rPr lang="en-US" sz="1742" b="1">
                          <a:solidFill>
                            <a:srgbClr val="FFFFFF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End Users</a:t>
                      </a:r>
                      <a:endParaRPr lang="en-US" sz="1100"/>
                    </a:p>
                  </a:txBody>
                  <a:tcPr marL="171732" marR="171732" marT="171732" marB="171732" anchor="ctr">
                    <a:lnL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3537">
                <a:tc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  <a:defRPr/>
                      </a:pPr>
                      <a:r>
                        <a:rPr lang="en-US" sz="1742" b="1">
                          <a:solidFill>
                            <a:srgbClr val="FFFFFF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Ave. Mean Ratings</a:t>
                      </a:r>
                      <a:endParaRPr lang="en-US" sz="1100"/>
                    </a:p>
                  </a:txBody>
                  <a:tcPr marL="171732" marR="171732" marT="171732" marB="171732" anchor="ctr">
                    <a:lnL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  <a:defRPr/>
                      </a:pPr>
                      <a:r>
                        <a:rPr lang="en-US" sz="1742" b="1">
                          <a:solidFill>
                            <a:srgbClr val="FFFFFF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Ave. Remarks</a:t>
                      </a:r>
                      <a:endParaRPr lang="en-US" sz="1100"/>
                    </a:p>
                  </a:txBody>
                  <a:tcPr marL="171732" marR="171732" marT="171732" marB="171732" anchor="ctr">
                    <a:lnL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3537">
                <a:tc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  <a:defRPr/>
                      </a:pPr>
                      <a:r>
                        <a:rPr lang="en-US" sz="1742">
                          <a:solidFill>
                            <a:srgbClr val="FFFFFF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3.90</a:t>
                      </a:r>
                      <a:endParaRPr lang="en-US" sz="1100"/>
                    </a:p>
                  </a:txBody>
                  <a:tcPr marL="171732" marR="171732" marT="171732" marB="171732" anchor="ctr">
                    <a:lnL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  <a:defRPr/>
                      </a:pPr>
                      <a:r>
                        <a:rPr lang="en-US" sz="1742">
                          <a:solidFill>
                            <a:srgbClr val="FFFFFF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Slightly Acceptable</a:t>
                      </a:r>
                      <a:endParaRPr lang="en-US" sz="1100"/>
                    </a:p>
                  </a:txBody>
                  <a:tcPr marL="171732" marR="171732" marT="171732" marB="171732" anchor="ctr">
                    <a:lnL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2906569" y="6364615"/>
          <a:ext cx="3408860" cy="653944"/>
        </p:xfrm>
        <a:graphic>
          <a:graphicData uri="http://schemas.openxmlformats.org/drawingml/2006/table">
            <a:tbl>
              <a:tblPr/>
              <a:tblGrid>
                <a:gridCol w="1670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944">
                <a:tc gridSpan="2"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  <a:defRPr/>
                      </a:pPr>
                      <a:r>
                        <a:rPr lang="en-US" sz="1742" b="1">
                          <a:solidFill>
                            <a:srgbClr val="FFFFFF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Client</a:t>
                      </a:r>
                      <a:endParaRPr lang="en-US" sz="1100"/>
                    </a:p>
                  </a:txBody>
                  <a:tcPr marL="171732" marR="171732" marT="171732" marB="171732" anchor="ctr">
                    <a:lnL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A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  <a:defRPr/>
                      </a:pPr>
                      <a:r>
                        <a:rPr lang="en-US" sz="1742" b="1">
                          <a:solidFill>
                            <a:srgbClr val="FFFFFF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Client</a:t>
                      </a:r>
                      <a:endParaRPr lang="en-US" sz="1100"/>
                    </a:p>
                  </a:txBody>
                  <a:tcPr marL="171732" marR="171732" marT="171732" marB="171732" anchor="ctr">
                    <a:lnL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63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1028700" y="1382698"/>
            <a:ext cx="16230600" cy="560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580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Evaluation Result (IT Experts)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8518" y="2121372"/>
            <a:ext cx="14126615" cy="8314146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3201339" y="4465560"/>
          <a:ext cx="3925718" cy="2683204"/>
        </p:xfrm>
        <a:graphic>
          <a:graphicData uri="http://schemas.openxmlformats.org/drawingml/2006/table">
            <a:tbl>
              <a:tblPr/>
              <a:tblGrid>
                <a:gridCol w="1923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5989">
                <a:tc gridSpan="2">
                  <a:txBody>
                    <a:bodyPr/>
                    <a:lstStyle/>
                    <a:p>
                      <a:pPr algn="ctr">
                        <a:lnSpc>
                          <a:spcPts val="2618"/>
                        </a:lnSpc>
                        <a:defRPr/>
                      </a:pPr>
                      <a:r>
                        <a:rPr lang="en-US" sz="1870" b="1">
                          <a:solidFill>
                            <a:srgbClr val="FFFFFF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End Users</a:t>
                      </a:r>
                      <a:endParaRPr lang="en-US" sz="1100"/>
                    </a:p>
                  </a:txBody>
                  <a:tcPr marL="184292" marR="184292" marT="184292" marB="184292" anchor="ctr">
                    <a:lnL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618"/>
                        </a:lnSpc>
                        <a:defRPr/>
                      </a:pPr>
                      <a:r>
                        <a:rPr lang="en-US" sz="1870" b="1">
                          <a:solidFill>
                            <a:srgbClr val="FFFFFF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End Users</a:t>
                      </a:r>
                      <a:endParaRPr lang="en-US" sz="1100"/>
                    </a:p>
                  </a:txBody>
                  <a:tcPr marL="184292" marR="184292" marT="184292" marB="184292" anchor="ctr">
                    <a:lnL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1226">
                <a:tc>
                  <a:txBody>
                    <a:bodyPr/>
                    <a:lstStyle/>
                    <a:p>
                      <a:pPr algn="ctr">
                        <a:lnSpc>
                          <a:spcPts val="2618"/>
                        </a:lnSpc>
                        <a:defRPr/>
                      </a:pPr>
                      <a:r>
                        <a:rPr lang="en-US" sz="1870" b="1">
                          <a:solidFill>
                            <a:srgbClr val="FFFFFF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Ave. Mean Ratings</a:t>
                      </a:r>
                      <a:endParaRPr lang="en-US" sz="1100"/>
                    </a:p>
                  </a:txBody>
                  <a:tcPr marL="184292" marR="184292" marT="184292" marB="184292" anchor="ctr">
                    <a:lnL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8"/>
                        </a:lnSpc>
                        <a:defRPr/>
                      </a:pPr>
                      <a:r>
                        <a:rPr lang="en-US" sz="1870" b="1">
                          <a:solidFill>
                            <a:srgbClr val="FFFFFF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Ave. Remarks</a:t>
                      </a:r>
                      <a:endParaRPr lang="en-US" sz="1100"/>
                    </a:p>
                  </a:txBody>
                  <a:tcPr marL="184292" marR="184292" marT="184292" marB="184292" anchor="ctr">
                    <a:lnL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989">
                <a:tc>
                  <a:txBody>
                    <a:bodyPr/>
                    <a:lstStyle/>
                    <a:p>
                      <a:pPr algn="ctr">
                        <a:lnSpc>
                          <a:spcPts val="2618"/>
                        </a:lnSpc>
                        <a:defRPr/>
                      </a:pPr>
                      <a:r>
                        <a:rPr lang="en-US" sz="1870">
                          <a:solidFill>
                            <a:srgbClr val="FFFFFF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4.55</a:t>
                      </a:r>
                      <a:endParaRPr lang="en-US" sz="1100"/>
                    </a:p>
                  </a:txBody>
                  <a:tcPr marL="184292" marR="184292" marT="184292" marB="184292" anchor="ctr">
                    <a:lnL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8"/>
                        </a:lnSpc>
                        <a:defRPr/>
                      </a:pPr>
                      <a:r>
                        <a:rPr lang="en-US" sz="1870">
                          <a:solidFill>
                            <a:srgbClr val="FFFFFF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Acceptable</a:t>
                      </a:r>
                      <a:endParaRPr lang="en-US" sz="1100"/>
                    </a:p>
                  </a:txBody>
                  <a:tcPr marL="184292" marR="184292" marT="184292" marB="184292" anchor="ctr">
                    <a:lnL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3201339" y="4465560"/>
          <a:ext cx="3925718" cy="753096"/>
        </p:xfrm>
        <a:graphic>
          <a:graphicData uri="http://schemas.openxmlformats.org/drawingml/2006/table">
            <a:tbl>
              <a:tblPr/>
              <a:tblGrid>
                <a:gridCol w="1923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3096">
                <a:tc gridSpan="2">
                  <a:txBody>
                    <a:bodyPr/>
                    <a:lstStyle/>
                    <a:p>
                      <a:pPr algn="ctr">
                        <a:lnSpc>
                          <a:spcPts val="2618"/>
                        </a:lnSpc>
                        <a:defRPr/>
                      </a:pPr>
                      <a:r>
                        <a:rPr lang="en-US" sz="1870" b="1">
                          <a:solidFill>
                            <a:srgbClr val="FFFFFF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IT Expert</a:t>
                      </a:r>
                      <a:endParaRPr lang="en-US" sz="1100"/>
                    </a:p>
                  </a:txBody>
                  <a:tcPr marL="184292" marR="184292" marT="184292" marB="184292" anchor="ctr">
                    <a:lnL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A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618"/>
                        </a:lnSpc>
                        <a:defRPr/>
                      </a:pPr>
                      <a:r>
                        <a:rPr lang="en-US" sz="1870" b="1">
                          <a:solidFill>
                            <a:srgbClr val="FFFFFF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IT Expert</a:t>
                      </a:r>
                      <a:endParaRPr lang="en-US" sz="1100"/>
                    </a:p>
                  </a:txBody>
                  <a:tcPr marL="184292" marR="184292" marT="184292" marB="184292" anchor="ctr">
                    <a:lnL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657" cap="flat" cmpd="sng" algn="ctr">
                      <a:solidFill>
                        <a:srgbClr val="5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1991589" y="1081196"/>
            <a:ext cx="3244797" cy="410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1"/>
              </a:lnSpc>
              <a:spcBef>
                <a:spcPct val="0"/>
              </a:spcBef>
            </a:pPr>
            <a:endParaRPr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28700" y="607979"/>
          <a:ext cx="11180103" cy="8650321"/>
        </p:xfrm>
        <a:graphic>
          <a:graphicData uri="http://schemas.openxmlformats.org/drawingml/2006/table">
            <a:tbl>
              <a:tblPr/>
              <a:tblGrid>
                <a:gridCol w="1439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40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3475">
                <a:tc gridSpan="2">
                  <a:txBody>
                    <a:bodyPr/>
                    <a:lstStyle/>
                    <a:p>
                      <a:pPr algn="l">
                        <a:lnSpc>
                          <a:spcPts val="6299"/>
                        </a:lnSpc>
                        <a:defRPr/>
                      </a:pPr>
                      <a:r>
                        <a:rPr lang="en-US" sz="4499" b="1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Summary of Findings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6299"/>
                        </a:lnSpc>
                        <a:defRPr/>
                      </a:pPr>
                      <a:r>
                        <a:rPr lang="en-US" sz="4499" b="1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Summary of Findings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7046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2667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UMEMPC utilizes a spreadsheet application.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4950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2667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2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Multiple existing Loan Approval Prediction systems.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950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2667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3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Size and treatment of dataset affects the accuracy of the model.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4950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2667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4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UMEMPC Transact efficiently supports multiple users simultaneously.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4950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2667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5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Evaluation results: Acceptable &amp; Slightly Acceptable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2938" y="5042480"/>
            <a:ext cx="6430374" cy="4561874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4135" y="2596509"/>
            <a:ext cx="7053238" cy="67237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1991589" y="1081196"/>
            <a:ext cx="3244797" cy="410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1"/>
              </a:lnSpc>
              <a:spcBef>
                <a:spcPct val="0"/>
              </a:spcBef>
            </a:pPr>
            <a:endParaRPr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28700" y="780604"/>
          <a:ext cx="11307573" cy="8788442"/>
        </p:xfrm>
        <a:graphic>
          <a:graphicData uri="http://schemas.openxmlformats.org/drawingml/2006/table">
            <a:tbl>
              <a:tblPr/>
              <a:tblGrid>
                <a:gridCol w="1479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8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01043">
                <a:tc gridSpan="2">
                  <a:txBody>
                    <a:bodyPr/>
                    <a:lstStyle/>
                    <a:p>
                      <a:pPr algn="l">
                        <a:lnSpc>
                          <a:spcPts val="6299"/>
                        </a:lnSpc>
                        <a:defRPr/>
                      </a:pPr>
                      <a:r>
                        <a:rPr lang="en-US" sz="4499" b="1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Conclusion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6299"/>
                        </a:lnSpc>
                        <a:defRPr/>
                      </a:pPr>
                      <a:r>
                        <a:rPr lang="en-US" sz="4499" b="1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Conclusion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4075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2667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UMEMPC Transact streamlines the loan application and management of the UMEMPC.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8673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2667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2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4.63 average rating for the system’s evaluation result.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6514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2667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3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93% accuracy in model development.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8137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2667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4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The Random Forest Model is statistically better than the Logistic Regression Model.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0146" y="5083876"/>
            <a:ext cx="6430374" cy="4561874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1342" y="2637906"/>
            <a:ext cx="7053238" cy="67237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1991589" y="1081196"/>
            <a:ext cx="3244797" cy="410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1"/>
              </a:lnSpc>
              <a:spcBef>
                <a:spcPct val="0"/>
              </a:spcBef>
            </a:pPr>
            <a:endParaRPr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28700" y="780604"/>
          <a:ext cx="16230600" cy="2628900"/>
        </p:xfrm>
        <a:graphic>
          <a:graphicData uri="http://schemas.openxmlformats.org/drawingml/2006/table">
            <a:tbl>
              <a:tblPr/>
              <a:tblGrid>
                <a:gridCol w="1623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23950">
                <a:tc>
                  <a:txBody>
                    <a:bodyPr/>
                    <a:lstStyle/>
                    <a:p>
                      <a:pPr algn="l">
                        <a:lnSpc>
                          <a:spcPts val="6299"/>
                        </a:lnSpc>
                        <a:defRPr/>
                      </a:pPr>
                      <a:r>
                        <a:rPr lang="en-US" sz="4499" b="1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Further Studies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4950"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Determine the optimal parameters for the model to enhance accuracy and overall performance.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28700" y="4201728"/>
          <a:ext cx="16230600" cy="4744343"/>
        </p:xfrm>
        <a:graphic>
          <a:graphicData uri="http://schemas.openxmlformats.org/drawingml/2006/table">
            <a:tbl>
              <a:tblPr/>
              <a:tblGrid>
                <a:gridCol w="1327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34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01043">
                <a:tc gridSpan="2">
                  <a:txBody>
                    <a:bodyPr/>
                    <a:lstStyle/>
                    <a:p>
                      <a:pPr algn="l">
                        <a:lnSpc>
                          <a:spcPts val="6299"/>
                        </a:lnSpc>
                        <a:defRPr/>
                      </a:pPr>
                      <a:r>
                        <a:rPr lang="en-US" sz="4499" b="1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Recommendations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6299"/>
                        </a:lnSpc>
                        <a:defRPr/>
                      </a:pPr>
                      <a:r>
                        <a:rPr lang="en-US" sz="4499" b="1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Recommendations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2667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UI and UX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2667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2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Security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2667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3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Loan application process (Form)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2667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4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Loan management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93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8524" y="4920062"/>
            <a:ext cx="6430374" cy="4561874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59721" y="2474091"/>
            <a:ext cx="7053238" cy="67237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 descr="PowerPoint Templates 2025_2.png"/>
          <p:cNvSpPr/>
          <p:nvPr/>
        </p:nvSpPr>
        <p:spPr>
          <a:xfrm>
            <a:off x="-4762" y="-4762"/>
            <a:ext cx="18297525" cy="10296525"/>
          </a:xfrm>
          <a:custGeom>
            <a:avLst/>
            <a:gdLst/>
            <a:ahLst/>
            <a:cxnLst/>
            <a:rect l="l" t="t" r="r" b="b"/>
            <a:pathLst>
              <a:path w="18297525" h="10296525">
                <a:moveTo>
                  <a:pt x="0" y="0"/>
                </a:moveTo>
                <a:lnTo>
                  <a:pt x="18297524" y="0"/>
                </a:lnTo>
                <a:lnTo>
                  <a:pt x="18297524" y="10296524"/>
                </a:lnTo>
                <a:lnTo>
                  <a:pt x="0" y="1029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r="-2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1447800" y="4274503"/>
            <a:ext cx="14377723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for listening!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</Words>
  <Application>Microsoft Office PowerPoint</Application>
  <PresentationFormat>Custom</PresentationFormat>
  <Paragraphs>134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Helvetica World</vt:lpstr>
      <vt:lpstr>Arial</vt:lpstr>
      <vt:lpstr>Poppins Bold</vt:lpstr>
      <vt:lpstr>Helvetica World Bold</vt:lpstr>
      <vt:lpstr>Calibri</vt:lpstr>
      <vt:lpstr>Codec Pro Bold</vt:lpstr>
      <vt:lpstr>Codec Pro</vt:lpstr>
      <vt:lpstr>Canva Sans Bold</vt:lpstr>
      <vt:lpstr>Canva Sans</vt:lpstr>
      <vt:lpstr>Be Vietnam Ultra-Bold</vt:lpstr>
      <vt:lpstr>Be Vietnam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CCIS-Reseach-Forum-Template-CIC-1.pptx</dc:title>
  <cp:lastModifiedBy>Julina Gacura</cp:lastModifiedBy>
  <cp:revision>2</cp:revision>
  <dcterms:created xsi:type="dcterms:W3CDTF">2006-08-16T00:00:00Z</dcterms:created>
  <dcterms:modified xsi:type="dcterms:W3CDTF">2025-05-15T02:10:34Z</dcterms:modified>
  <dc:identifier>DAGneZNvSBQ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317b24d-f175-41ab-801f-1f7837c4df85_Enabled">
    <vt:lpwstr>true</vt:lpwstr>
  </property>
  <property fmtid="{D5CDD505-2E9C-101B-9397-08002B2CF9AE}" pid="3" name="MSIP_Label_6317b24d-f175-41ab-801f-1f7837c4df85_SetDate">
    <vt:lpwstr>2025-05-15T02:10:34Z</vt:lpwstr>
  </property>
  <property fmtid="{D5CDD505-2E9C-101B-9397-08002B2CF9AE}" pid="4" name="MSIP_Label_6317b24d-f175-41ab-801f-1f7837c4df85_Method">
    <vt:lpwstr>Standard</vt:lpwstr>
  </property>
  <property fmtid="{D5CDD505-2E9C-101B-9397-08002B2CF9AE}" pid="5" name="MSIP_Label_6317b24d-f175-41ab-801f-1f7837c4df85_Name">
    <vt:lpwstr>6317b24d-f175-41ab-801f-1f7837c4df85</vt:lpwstr>
  </property>
  <property fmtid="{D5CDD505-2E9C-101B-9397-08002B2CF9AE}" pid="6" name="MSIP_Label_6317b24d-f175-41ab-801f-1f7837c4df85_SiteId">
    <vt:lpwstr>4e86c729-f51f-4e1f-b5f5-6a89401f45ee</vt:lpwstr>
  </property>
  <property fmtid="{D5CDD505-2E9C-101B-9397-08002B2CF9AE}" pid="7" name="MSIP_Label_6317b24d-f175-41ab-801f-1f7837c4df85_ActionId">
    <vt:lpwstr>150c806f-d37e-4bee-b384-caa7aefaf679</vt:lpwstr>
  </property>
  <property fmtid="{D5CDD505-2E9C-101B-9397-08002B2CF9AE}" pid="8" name="MSIP_Label_6317b24d-f175-41ab-801f-1f7837c4df85_ContentBits">
    <vt:lpwstr>0</vt:lpwstr>
  </property>
  <property fmtid="{D5CDD505-2E9C-101B-9397-08002B2CF9AE}" pid="9" name="MSIP_Label_6317b24d-f175-41ab-801f-1f7837c4df85_Tag">
    <vt:lpwstr>10, 3, 0, 1</vt:lpwstr>
  </property>
</Properties>
</file>